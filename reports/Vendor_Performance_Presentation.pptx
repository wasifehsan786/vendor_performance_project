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7" d="100"/>
          <a:sy n="117" d="100"/>
        </p:scale>
        <p:origin x="466"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387009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4E79"/>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8A020"/>
          </a:solidFill>
          <a:ln w="12700">
            <a:solidFill>
              <a:srgbClr val="E8A020"/>
            </a:solidFill>
            <a:prstDash val="solid"/>
          </a:ln>
        </p:spPr>
      </p:sp>
      <p:sp>
        <p:nvSpPr>
          <p:cNvPr id="3" name="Text 1"/>
          <p:cNvSpPr/>
          <p:nvPr/>
        </p:nvSpPr>
        <p:spPr>
          <a:xfrm>
            <a:off x="365760" y="822960"/>
            <a:ext cx="8412480" cy="822960"/>
          </a:xfrm>
          <a:prstGeom prst="rect">
            <a:avLst/>
          </a:prstGeom>
          <a:noFill/>
          <a:ln/>
        </p:spPr>
        <p:txBody>
          <a:bodyPr wrap="square"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VENDOR PERFORMANCE</a:t>
            </a:r>
            <a:endParaRPr lang="en-US" sz="4400" dirty="0"/>
          </a:p>
        </p:txBody>
      </p:sp>
      <p:sp>
        <p:nvSpPr>
          <p:cNvPr id="4" name="Text 2"/>
          <p:cNvSpPr/>
          <p:nvPr/>
        </p:nvSpPr>
        <p:spPr>
          <a:xfrm>
            <a:off x="365760" y="1600200"/>
            <a:ext cx="8412480" cy="822960"/>
          </a:xfrm>
          <a:prstGeom prst="rect">
            <a:avLst/>
          </a:prstGeom>
          <a:noFill/>
          <a:ln/>
        </p:spPr>
        <p:txBody>
          <a:bodyPr wrap="square" rtlCol="0" anchor="ctr"/>
          <a:lstStyle/>
          <a:p>
            <a:pPr marL="0" indent="0">
              <a:buNone/>
            </a:pPr>
            <a:r>
              <a:rPr lang="en-US" sz="4400" b="1" dirty="0">
                <a:solidFill>
                  <a:srgbClr val="E8A020"/>
                </a:solidFill>
                <a:latin typeface="Calibri" pitchFamily="34" charset="0"/>
                <a:ea typeface="Calibri" pitchFamily="34" charset="-122"/>
                <a:cs typeface="Calibri" pitchFamily="34" charset="-120"/>
              </a:rPr>
              <a:t>ANALYSIS</a:t>
            </a:r>
            <a:endParaRPr lang="en-US" sz="4400" dirty="0"/>
          </a:p>
        </p:txBody>
      </p:sp>
      <p:sp>
        <p:nvSpPr>
          <p:cNvPr id="5" name="Text 3"/>
          <p:cNvSpPr/>
          <p:nvPr/>
        </p:nvSpPr>
        <p:spPr>
          <a:xfrm>
            <a:off x="365760" y="2514600"/>
            <a:ext cx="8412480" cy="411480"/>
          </a:xfrm>
          <a:prstGeom prst="rect">
            <a:avLst/>
          </a:prstGeom>
          <a:noFill/>
          <a:ln/>
        </p:spPr>
        <p:txBody>
          <a:bodyPr wrap="square" rtlCol="0" anchor="ctr"/>
          <a:lstStyle/>
          <a:p>
            <a:pPr marL="0" indent="0">
              <a:buNone/>
            </a:pPr>
            <a:r>
              <a:rPr lang="en-US" sz="1600" i="1" dirty="0">
                <a:solidFill>
                  <a:srgbClr val="BDD7EE"/>
                </a:solidFill>
                <a:latin typeface="Calibri" pitchFamily="34" charset="0"/>
                <a:ea typeface="Calibri" pitchFamily="34" charset="-122"/>
                <a:cs typeface="Calibri" pitchFamily="34" charset="-120"/>
              </a:rPr>
              <a:t>Retail &amp; Wholesale Industry — End-to-End Data Analytics Project</a:t>
            </a:r>
            <a:endParaRPr lang="en-US" sz="1600" dirty="0"/>
          </a:p>
        </p:txBody>
      </p:sp>
      <p:sp>
        <p:nvSpPr>
          <p:cNvPr id="6" name="Shape 4"/>
          <p:cNvSpPr/>
          <p:nvPr/>
        </p:nvSpPr>
        <p:spPr>
          <a:xfrm>
            <a:off x="365760" y="3108960"/>
            <a:ext cx="1737360" cy="457200"/>
          </a:xfrm>
          <a:prstGeom prst="roundRect">
            <a:avLst>
              <a:gd name="adj" fmla="val 16000"/>
            </a:avLst>
          </a:prstGeom>
          <a:solidFill>
            <a:srgbClr val="2E75B6"/>
          </a:solidFill>
          <a:ln w="12700">
            <a:solidFill>
              <a:srgbClr val="2E75B6"/>
            </a:solidFill>
            <a:prstDash val="solid"/>
          </a:ln>
        </p:spPr>
      </p:sp>
      <p:sp>
        <p:nvSpPr>
          <p:cNvPr id="7" name="Text 5"/>
          <p:cNvSpPr/>
          <p:nvPr/>
        </p:nvSpPr>
        <p:spPr>
          <a:xfrm>
            <a:off x="365760" y="3108960"/>
            <a:ext cx="1737360" cy="45720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SQL Server</a:t>
            </a:r>
            <a:endParaRPr lang="en-US" sz="1300" dirty="0"/>
          </a:p>
        </p:txBody>
      </p:sp>
      <p:sp>
        <p:nvSpPr>
          <p:cNvPr id="8" name="Shape 6"/>
          <p:cNvSpPr/>
          <p:nvPr/>
        </p:nvSpPr>
        <p:spPr>
          <a:xfrm>
            <a:off x="2377440" y="3108960"/>
            <a:ext cx="1737360" cy="457200"/>
          </a:xfrm>
          <a:prstGeom prst="roundRect">
            <a:avLst>
              <a:gd name="adj" fmla="val 16000"/>
            </a:avLst>
          </a:prstGeom>
          <a:solidFill>
            <a:srgbClr val="2E75B6"/>
          </a:solidFill>
          <a:ln w="12700">
            <a:solidFill>
              <a:srgbClr val="2E75B6"/>
            </a:solidFill>
            <a:prstDash val="solid"/>
          </a:ln>
        </p:spPr>
      </p:sp>
      <p:sp>
        <p:nvSpPr>
          <p:cNvPr id="9" name="Text 7"/>
          <p:cNvSpPr/>
          <p:nvPr/>
        </p:nvSpPr>
        <p:spPr>
          <a:xfrm>
            <a:off x="2377440" y="3108960"/>
            <a:ext cx="1737360" cy="45720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Python</a:t>
            </a:r>
            <a:endParaRPr lang="en-US" sz="1300" dirty="0"/>
          </a:p>
        </p:txBody>
      </p:sp>
      <p:sp>
        <p:nvSpPr>
          <p:cNvPr id="10" name="Shape 8"/>
          <p:cNvSpPr/>
          <p:nvPr/>
        </p:nvSpPr>
        <p:spPr>
          <a:xfrm>
            <a:off x="4389120" y="3108960"/>
            <a:ext cx="1737360" cy="457200"/>
          </a:xfrm>
          <a:prstGeom prst="roundRect">
            <a:avLst>
              <a:gd name="adj" fmla="val 16000"/>
            </a:avLst>
          </a:prstGeom>
          <a:solidFill>
            <a:srgbClr val="2E75B6"/>
          </a:solidFill>
          <a:ln w="12700">
            <a:solidFill>
              <a:srgbClr val="2E75B6"/>
            </a:solidFill>
            <a:prstDash val="solid"/>
          </a:ln>
        </p:spPr>
      </p:sp>
      <p:sp>
        <p:nvSpPr>
          <p:cNvPr id="11" name="Text 9"/>
          <p:cNvSpPr/>
          <p:nvPr/>
        </p:nvSpPr>
        <p:spPr>
          <a:xfrm>
            <a:off x="4389120" y="3108960"/>
            <a:ext cx="1737360" cy="45720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Power BI</a:t>
            </a:r>
            <a:endParaRPr lang="en-US" sz="1300" dirty="0"/>
          </a:p>
        </p:txBody>
      </p:sp>
      <p:sp>
        <p:nvSpPr>
          <p:cNvPr id="12" name="Text 10"/>
          <p:cNvSpPr/>
          <p:nvPr/>
        </p:nvSpPr>
        <p:spPr>
          <a:xfrm>
            <a:off x="365760" y="4480560"/>
            <a:ext cx="8412480" cy="365760"/>
          </a:xfrm>
          <a:prstGeom prst="rect">
            <a:avLst/>
          </a:prstGeom>
          <a:noFill/>
          <a:ln/>
        </p:spPr>
        <p:txBody>
          <a:bodyPr wrap="square" rtlCol="0" anchor="ctr"/>
          <a:lstStyle/>
          <a:p>
            <a:pPr marL="0" indent="0">
              <a:buNone/>
            </a:pPr>
            <a:r>
              <a:rPr lang="en-US" sz="1200" dirty="0">
                <a:solidFill>
                  <a:srgbClr val="64748B"/>
                </a:solidFill>
                <a:latin typeface="Calibri" pitchFamily="34" charset="0"/>
                <a:ea typeface="Calibri" pitchFamily="34" charset="-122"/>
                <a:cs typeface="Calibri" pitchFamily="34" charset="-120"/>
              </a:rPr>
              <a:t>Prepared by: Wasif  |  May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8FC"/>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rtlCol="0" anchor="ctr"/>
          <a:lstStyle/>
          <a:p>
            <a:pPr marL="0" indent="0">
              <a:buNone/>
            </a:pPr>
            <a:r>
              <a:rPr lang="en-US" sz="3200" b="1" dirty="0">
                <a:solidFill>
                  <a:srgbClr val="1F4E79"/>
                </a:solidFill>
                <a:latin typeface="Calibri" pitchFamily="34" charset="0"/>
                <a:ea typeface="Calibri" pitchFamily="34" charset="-122"/>
                <a:cs typeface="Calibri" pitchFamily="34" charset="-120"/>
              </a:rPr>
              <a:t>Agenda</a:t>
            </a:r>
            <a:endParaRPr lang="en-US" sz="3200" dirty="0"/>
          </a:p>
        </p:txBody>
      </p:sp>
      <p:sp>
        <p:nvSpPr>
          <p:cNvPr id="3" name="Shape 1"/>
          <p:cNvSpPr/>
          <p:nvPr/>
        </p:nvSpPr>
        <p:spPr>
          <a:xfrm>
            <a:off x="457200" y="960120"/>
            <a:ext cx="502920" cy="594360"/>
          </a:xfrm>
          <a:prstGeom prst="rect">
            <a:avLst/>
          </a:prstGeom>
          <a:solidFill>
            <a:srgbClr val="1F4E79"/>
          </a:solidFill>
          <a:ln w="12700">
            <a:solidFill>
              <a:srgbClr val="1F4E79"/>
            </a:solidFill>
            <a:prstDash val="solid"/>
          </a:ln>
        </p:spPr>
      </p:sp>
      <p:sp>
        <p:nvSpPr>
          <p:cNvPr id="4" name="Text 2"/>
          <p:cNvSpPr/>
          <p:nvPr/>
        </p:nvSpPr>
        <p:spPr>
          <a:xfrm>
            <a:off x="457200" y="960120"/>
            <a:ext cx="502920" cy="59436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01</a:t>
            </a:r>
            <a:endParaRPr lang="en-US" sz="1600" dirty="0"/>
          </a:p>
        </p:txBody>
      </p:sp>
      <p:sp>
        <p:nvSpPr>
          <p:cNvPr id="5" name="Shape 3"/>
          <p:cNvSpPr/>
          <p:nvPr/>
        </p:nvSpPr>
        <p:spPr>
          <a:xfrm>
            <a:off x="1051560" y="960120"/>
            <a:ext cx="7635240" cy="594360"/>
          </a:xfrm>
          <a:prstGeom prst="rect">
            <a:avLst/>
          </a:prstGeom>
          <a:solidFill>
            <a:srgbClr val="FFFFFF"/>
          </a:solidFill>
          <a:ln w="12700">
            <a:solidFill>
              <a:srgbClr val="BDD7EE"/>
            </a:solidFill>
            <a:prstDash val="solid"/>
          </a:ln>
        </p:spPr>
      </p:sp>
      <p:sp>
        <p:nvSpPr>
          <p:cNvPr id="6" name="Text 4"/>
          <p:cNvSpPr/>
          <p:nvPr/>
        </p:nvSpPr>
        <p:spPr>
          <a:xfrm>
            <a:off x="1143000" y="996696"/>
            <a:ext cx="3200400" cy="274320"/>
          </a:xfrm>
          <a:prstGeom prst="rect">
            <a:avLst/>
          </a:prstGeom>
          <a:noFill/>
          <a:ln/>
        </p:spPr>
        <p:txBody>
          <a:bodyPr wrap="square" lIns="0" tIns="0" rIns="0" bIns="0" rtlCol="0" anchor="ctr"/>
          <a:lstStyle/>
          <a:p>
            <a:pPr marL="0" indent="0">
              <a:buNone/>
            </a:pPr>
            <a:r>
              <a:rPr lang="en-US" sz="1400" b="1" dirty="0">
                <a:solidFill>
                  <a:srgbClr val="1F4E79"/>
                </a:solidFill>
                <a:latin typeface="Calibri" pitchFamily="34" charset="0"/>
                <a:ea typeface="Calibri" pitchFamily="34" charset="-122"/>
                <a:cs typeface="Calibri" pitchFamily="34" charset="-120"/>
              </a:rPr>
              <a:t>Business Problem</a:t>
            </a:r>
            <a:endParaRPr lang="en-US" sz="1400" dirty="0"/>
          </a:p>
        </p:txBody>
      </p:sp>
      <p:sp>
        <p:nvSpPr>
          <p:cNvPr id="7" name="Text 5"/>
          <p:cNvSpPr/>
          <p:nvPr/>
        </p:nvSpPr>
        <p:spPr>
          <a:xfrm>
            <a:off x="1143000" y="1261872"/>
            <a:ext cx="7406640" cy="25603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Challenges in pricing, inventory &amp; vendor dependency</a:t>
            </a:r>
            <a:endParaRPr lang="en-US" sz="1100" dirty="0"/>
          </a:p>
        </p:txBody>
      </p:sp>
      <p:sp>
        <p:nvSpPr>
          <p:cNvPr id="8" name="Shape 6"/>
          <p:cNvSpPr/>
          <p:nvPr/>
        </p:nvSpPr>
        <p:spPr>
          <a:xfrm>
            <a:off x="457200" y="1737360"/>
            <a:ext cx="502920" cy="594360"/>
          </a:xfrm>
          <a:prstGeom prst="rect">
            <a:avLst/>
          </a:prstGeom>
          <a:solidFill>
            <a:srgbClr val="1F4E79"/>
          </a:solidFill>
          <a:ln w="12700">
            <a:solidFill>
              <a:srgbClr val="1F4E79"/>
            </a:solidFill>
            <a:prstDash val="solid"/>
          </a:ln>
        </p:spPr>
      </p:sp>
      <p:sp>
        <p:nvSpPr>
          <p:cNvPr id="9" name="Text 7"/>
          <p:cNvSpPr/>
          <p:nvPr/>
        </p:nvSpPr>
        <p:spPr>
          <a:xfrm>
            <a:off x="457200" y="1737360"/>
            <a:ext cx="502920" cy="59436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02</a:t>
            </a:r>
            <a:endParaRPr lang="en-US" sz="1600" dirty="0"/>
          </a:p>
        </p:txBody>
      </p:sp>
      <p:sp>
        <p:nvSpPr>
          <p:cNvPr id="10" name="Shape 8"/>
          <p:cNvSpPr/>
          <p:nvPr/>
        </p:nvSpPr>
        <p:spPr>
          <a:xfrm>
            <a:off x="1051560" y="1737360"/>
            <a:ext cx="7635240" cy="594360"/>
          </a:xfrm>
          <a:prstGeom prst="rect">
            <a:avLst/>
          </a:prstGeom>
          <a:solidFill>
            <a:srgbClr val="FFFFFF"/>
          </a:solidFill>
          <a:ln w="12700">
            <a:solidFill>
              <a:srgbClr val="BDD7EE"/>
            </a:solidFill>
            <a:prstDash val="solid"/>
          </a:ln>
        </p:spPr>
      </p:sp>
      <p:sp>
        <p:nvSpPr>
          <p:cNvPr id="11" name="Text 9"/>
          <p:cNvSpPr/>
          <p:nvPr/>
        </p:nvSpPr>
        <p:spPr>
          <a:xfrm>
            <a:off x="1143000" y="1773936"/>
            <a:ext cx="3200400" cy="274320"/>
          </a:xfrm>
          <a:prstGeom prst="rect">
            <a:avLst/>
          </a:prstGeom>
          <a:noFill/>
          <a:ln/>
        </p:spPr>
        <p:txBody>
          <a:bodyPr wrap="square" lIns="0" tIns="0" rIns="0" bIns="0" rtlCol="0" anchor="ctr"/>
          <a:lstStyle/>
          <a:p>
            <a:pPr marL="0" indent="0">
              <a:buNone/>
            </a:pPr>
            <a:r>
              <a:rPr lang="en-US" sz="1400" b="1" dirty="0">
                <a:solidFill>
                  <a:srgbClr val="1F4E79"/>
                </a:solidFill>
                <a:latin typeface="Calibri" pitchFamily="34" charset="0"/>
                <a:ea typeface="Calibri" pitchFamily="34" charset="-122"/>
                <a:cs typeface="Calibri" pitchFamily="34" charset="-120"/>
              </a:rPr>
              <a:t>Key Metrics</a:t>
            </a:r>
            <a:endParaRPr lang="en-US" sz="1400" dirty="0"/>
          </a:p>
        </p:txBody>
      </p:sp>
      <p:sp>
        <p:nvSpPr>
          <p:cNvPr id="12" name="Text 10"/>
          <p:cNvSpPr/>
          <p:nvPr/>
        </p:nvSpPr>
        <p:spPr>
          <a:xfrm>
            <a:off x="1143000" y="2039112"/>
            <a:ext cx="7406640" cy="25603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$448.8M Sales  |  30.49% Margin  |  119 Vendors</a:t>
            </a:r>
            <a:endParaRPr lang="en-US" sz="1100" dirty="0"/>
          </a:p>
        </p:txBody>
      </p:sp>
      <p:sp>
        <p:nvSpPr>
          <p:cNvPr id="13" name="Shape 11"/>
          <p:cNvSpPr/>
          <p:nvPr/>
        </p:nvSpPr>
        <p:spPr>
          <a:xfrm>
            <a:off x="457200" y="2514600"/>
            <a:ext cx="502920" cy="594360"/>
          </a:xfrm>
          <a:prstGeom prst="rect">
            <a:avLst/>
          </a:prstGeom>
          <a:solidFill>
            <a:srgbClr val="1F4E79"/>
          </a:solidFill>
          <a:ln w="12700">
            <a:solidFill>
              <a:srgbClr val="1F4E79"/>
            </a:solidFill>
            <a:prstDash val="solid"/>
          </a:ln>
        </p:spPr>
      </p:sp>
      <p:sp>
        <p:nvSpPr>
          <p:cNvPr id="14" name="Text 12"/>
          <p:cNvSpPr/>
          <p:nvPr/>
        </p:nvSpPr>
        <p:spPr>
          <a:xfrm>
            <a:off x="457200" y="2514600"/>
            <a:ext cx="502920" cy="59436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03</a:t>
            </a:r>
            <a:endParaRPr lang="en-US" sz="1600" dirty="0"/>
          </a:p>
        </p:txBody>
      </p:sp>
      <p:sp>
        <p:nvSpPr>
          <p:cNvPr id="15" name="Shape 13"/>
          <p:cNvSpPr/>
          <p:nvPr/>
        </p:nvSpPr>
        <p:spPr>
          <a:xfrm>
            <a:off x="1051560" y="2514600"/>
            <a:ext cx="7635240" cy="594360"/>
          </a:xfrm>
          <a:prstGeom prst="rect">
            <a:avLst/>
          </a:prstGeom>
          <a:solidFill>
            <a:srgbClr val="FFFFFF"/>
          </a:solidFill>
          <a:ln w="12700">
            <a:solidFill>
              <a:srgbClr val="BDD7EE"/>
            </a:solidFill>
            <a:prstDash val="solid"/>
          </a:ln>
        </p:spPr>
      </p:sp>
      <p:sp>
        <p:nvSpPr>
          <p:cNvPr id="16" name="Text 14"/>
          <p:cNvSpPr/>
          <p:nvPr/>
        </p:nvSpPr>
        <p:spPr>
          <a:xfrm>
            <a:off x="1143000" y="2551176"/>
            <a:ext cx="3200400" cy="274320"/>
          </a:xfrm>
          <a:prstGeom prst="rect">
            <a:avLst/>
          </a:prstGeom>
          <a:noFill/>
          <a:ln/>
        </p:spPr>
        <p:txBody>
          <a:bodyPr wrap="square" lIns="0" tIns="0" rIns="0" bIns="0" rtlCol="0" anchor="ctr"/>
          <a:lstStyle/>
          <a:p>
            <a:pPr marL="0" indent="0">
              <a:buNone/>
            </a:pPr>
            <a:r>
              <a:rPr lang="en-US" sz="1400" b="1" dirty="0">
                <a:solidFill>
                  <a:srgbClr val="1F4E79"/>
                </a:solidFill>
                <a:latin typeface="Calibri" pitchFamily="34" charset="0"/>
                <a:ea typeface="Calibri" pitchFamily="34" charset="-122"/>
                <a:cs typeface="Calibri" pitchFamily="34" charset="-120"/>
              </a:rPr>
              <a:t>EDA Findings</a:t>
            </a:r>
            <a:endParaRPr lang="en-US" sz="1400" dirty="0"/>
          </a:p>
        </p:txBody>
      </p:sp>
      <p:sp>
        <p:nvSpPr>
          <p:cNvPr id="17" name="Text 15"/>
          <p:cNvSpPr/>
          <p:nvPr/>
        </p:nvSpPr>
        <p:spPr>
          <a:xfrm>
            <a:off x="1143000" y="2816352"/>
            <a:ext cx="7406640" cy="25603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Data distributions and correlation analysis</a:t>
            </a:r>
            <a:endParaRPr lang="en-US" sz="1100" dirty="0"/>
          </a:p>
        </p:txBody>
      </p:sp>
      <p:sp>
        <p:nvSpPr>
          <p:cNvPr id="18" name="Shape 16"/>
          <p:cNvSpPr/>
          <p:nvPr/>
        </p:nvSpPr>
        <p:spPr>
          <a:xfrm>
            <a:off x="457200" y="3291840"/>
            <a:ext cx="502920" cy="594360"/>
          </a:xfrm>
          <a:prstGeom prst="rect">
            <a:avLst/>
          </a:prstGeom>
          <a:solidFill>
            <a:srgbClr val="1F4E79"/>
          </a:solidFill>
          <a:ln w="12700">
            <a:solidFill>
              <a:srgbClr val="1F4E79"/>
            </a:solidFill>
            <a:prstDash val="solid"/>
          </a:ln>
        </p:spPr>
      </p:sp>
      <p:sp>
        <p:nvSpPr>
          <p:cNvPr id="19" name="Text 17"/>
          <p:cNvSpPr/>
          <p:nvPr/>
        </p:nvSpPr>
        <p:spPr>
          <a:xfrm>
            <a:off x="457200" y="3291840"/>
            <a:ext cx="502920" cy="59436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04</a:t>
            </a:r>
            <a:endParaRPr lang="en-US" sz="1600" dirty="0"/>
          </a:p>
        </p:txBody>
      </p:sp>
      <p:sp>
        <p:nvSpPr>
          <p:cNvPr id="20" name="Shape 18"/>
          <p:cNvSpPr/>
          <p:nvPr/>
        </p:nvSpPr>
        <p:spPr>
          <a:xfrm>
            <a:off x="1051560" y="3291840"/>
            <a:ext cx="7635240" cy="594360"/>
          </a:xfrm>
          <a:prstGeom prst="rect">
            <a:avLst/>
          </a:prstGeom>
          <a:solidFill>
            <a:srgbClr val="FFFFFF"/>
          </a:solidFill>
          <a:ln w="12700">
            <a:solidFill>
              <a:srgbClr val="BDD7EE"/>
            </a:solidFill>
            <a:prstDash val="solid"/>
          </a:ln>
        </p:spPr>
      </p:sp>
      <p:sp>
        <p:nvSpPr>
          <p:cNvPr id="21" name="Text 19"/>
          <p:cNvSpPr/>
          <p:nvPr/>
        </p:nvSpPr>
        <p:spPr>
          <a:xfrm>
            <a:off x="1143000" y="3328416"/>
            <a:ext cx="3200400" cy="274320"/>
          </a:xfrm>
          <a:prstGeom prst="rect">
            <a:avLst/>
          </a:prstGeom>
          <a:noFill/>
          <a:ln/>
        </p:spPr>
        <p:txBody>
          <a:bodyPr wrap="square" lIns="0" tIns="0" rIns="0" bIns="0" rtlCol="0" anchor="ctr"/>
          <a:lstStyle/>
          <a:p>
            <a:pPr marL="0" indent="0">
              <a:buNone/>
            </a:pPr>
            <a:r>
              <a:rPr lang="en-US" sz="1400" b="1" dirty="0">
                <a:solidFill>
                  <a:srgbClr val="1F4E79"/>
                </a:solidFill>
                <a:latin typeface="Calibri" pitchFamily="34" charset="0"/>
                <a:ea typeface="Calibri" pitchFamily="34" charset="-122"/>
                <a:cs typeface="Calibri" pitchFamily="34" charset="-120"/>
              </a:rPr>
              <a:t>Research Questions</a:t>
            </a:r>
            <a:endParaRPr lang="en-US" sz="1400" dirty="0"/>
          </a:p>
        </p:txBody>
      </p:sp>
      <p:sp>
        <p:nvSpPr>
          <p:cNvPr id="22" name="Text 20"/>
          <p:cNvSpPr/>
          <p:nvPr/>
        </p:nvSpPr>
        <p:spPr>
          <a:xfrm>
            <a:off x="1143000" y="3593592"/>
            <a:ext cx="7406640" cy="25603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8 business questions answered with data</a:t>
            </a:r>
            <a:endParaRPr lang="en-US" sz="1100" dirty="0"/>
          </a:p>
        </p:txBody>
      </p:sp>
      <p:sp>
        <p:nvSpPr>
          <p:cNvPr id="23" name="Shape 21"/>
          <p:cNvSpPr/>
          <p:nvPr/>
        </p:nvSpPr>
        <p:spPr>
          <a:xfrm>
            <a:off x="457200" y="4069080"/>
            <a:ext cx="502920" cy="594360"/>
          </a:xfrm>
          <a:prstGeom prst="rect">
            <a:avLst/>
          </a:prstGeom>
          <a:solidFill>
            <a:srgbClr val="1F4E79"/>
          </a:solidFill>
          <a:ln w="12700">
            <a:solidFill>
              <a:srgbClr val="1F4E79"/>
            </a:solidFill>
            <a:prstDash val="solid"/>
          </a:ln>
        </p:spPr>
      </p:sp>
      <p:sp>
        <p:nvSpPr>
          <p:cNvPr id="24" name="Text 22"/>
          <p:cNvSpPr/>
          <p:nvPr/>
        </p:nvSpPr>
        <p:spPr>
          <a:xfrm>
            <a:off x="457200" y="4069080"/>
            <a:ext cx="502920" cy="59436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05</a:t>
            </a:r>
            <a:endParaRPr lang="en-US" sz="1600" dirty="0"/>
          </a:p>
        </p:txBody>
      </p:sp>
      <p:sp>
        <p:nvSpPr>
          <p:cNvPr id="25" name="Shape 23"/>
          <p:cNvSpPr/>
          <p:nvPr/>
        </p:nvSpPr>
        <p:spPr>
          <a:xfrm>
            <a:off x="1051560" y="4069080"/>
            <a:ext cx="7635240" cy="594360"/>
          </a:xfrm>
          <a:prstGeom prst="rect">
            <a:avLst/>
          </a:prstGeom>
          <a:solidFill>
            <a:srgbClr val="FFFFFF"/>
          </a:solidFill>
          <a:ln w="12700">
            <a:solidFill>
              <a:srgbClr val="BDD7EE"/>
            </a:solidFill>
            <a:prstDash val="solid"/>
          </a:ln>
        </p:spPr>
      </p:sp>
      <p:sp>
        <p:nvSpPr>
          <p:cNvPr id="26" name="Text 24"/>
          <p:cNvSpPr/>
          <p:nvPr/>
        </p:nvSpPr>
        <p:spPr>
          <a:xfrm>
            <a:off x="1143000" y="4105656"/>
            <a:ext cx="3200400" cy="274320"/>
          </a:xfrm>
          <a:prstGeom prst="rect">
            <a:avLst/>
          </a:prstGeom>
          <a:noFill/>
          <a:ln/>
        </p:spPr>
        <p:txBody>
          <a:bodyPr wrap="square" lIns="0" tIns="0" rIns="0" bIns="0" rtlCol="0" anchor="ctr"/>
          <a:lstStyle/>
          <a:p>
            <a:pPr marL="0" indent="0">
              <a:buNone/>
            </a:pPr>
            <a:r>
              <a:rPr lang="en-US" sz="1400" b="1" dirty="0">
                <a:solidFill>
                  <a:srgbClr val="1F4E79"/>
                </a:solidFill>
                <a:latin typeface="Calibri" pitchFamily="34" charset="0"/>
                <a:ea typeface="Calibri" pitchFamily="34" charset="-122"/>
                <a:cs typeface="Calibri" pitchFamily="34" charset="-120"/>
              </a:rPr>
              <a:t>Recommendations</a:t>
            </a:r>
            <a:endParaRPr lang="en-US" sz="1400" dirty="0"/>
          </a:p>
        </p:txBody>
      </p:sp>
      <p:sp>
        <p:nvSpPr>
          <p:cNvPr id="27" name="Text 25"/>
          <p:cNvSpPr/>
          <p:nvPr/>
        </p:nvSpPr>
        <p:spPr>
          <a:xfrm>
            <a:off x="1143000" y="4370832"/>
            <a:ext cx="7406640" cy="25603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6 strategic actions for improved profitability</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F4E79"/>
          </a:solidFill>
          <a:ln w="12700">
            <a:solidFill>
              <a:srgbClr val="1F4E79"/>
            </a:solidFill>
            <a:prstDash val="solid"/>
          </a:ln>
        </p:spPr>
      </p:sp>
      <p:sp>
        <p:nvSpPr>
          <p:cNvPr id="3" name="Text 1"/>
          <p:cNvSpPr/>
          <p:nvPr/>
        </p:nvSpPr>
        <p:spPr>
          <a:xfrm>
            <a:off x="365760" y="137160"/>
            <a:ext cx="8412480" cy="64008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Business Problem</a:t>
            </a:r>
            <a:endParaRPr lang="en-US" sz="2800" dirty="0"/>
          </a:p>
        </p:txBody>
      </p:sp>
      <p:sp>
        <p:nvSpPr>
          <p:cNvPr id="4" name="Shape 2"/>
          <p:cNvSpPr/>
          <p:nvPr/>
        </p:nvSpPr>
        <p:spPr>
          <a:xfrm>
            <a:off x="320040" y="1097280"/>
            <a:ext cx="2743200" cy="3474720"/>
          </a:xfrm>
          <a:prstGeom prst="rect">
            <a:avLst/>
          </a:prstGeom>
          <a:solidFill>
            <a:srgbClr val="F4F8FC"/>
          </a:solidFill>
          <a:ln w="12700">
            <a:solidFill>
              <a:srgbClr val="BDD7EE"/>
            </a:solidFill>
            <a:prstDash val="solid"/>
          </a:ln>
        </p:spPr>
      </p:sp>
      <p:sp>
        <p:nvSpPr>
          <p:cNvPr id="5" name="Shape 3"/>
          <p:cNvSpPr/>
          <p:nvPr/>
        </p:nvSpPr>
        <p:spPr>
          <a:xfrm>
            <a:off x="320040" y="1097280"/>
            <a:ext cx="2743200" cy="109728"/>
          </a:xfrm>
          <a:prstGeom prst="rect">
            <a:avLst/>
          </a:prstGeom>
          <a:solidFill>
            <a:srgbClr val="E8A020"/>
          </a:solidFill>
          <a:ln w="12700">
            <a:solidFill>
              <a:srgbClr val="E8A020"/>
            </a:solidFill>
            <a:prstDash val="solid"/>
          </a:ln>
        </p:spPr>
      </p:sp>
      <p:sp>
        <p:nvSpPr>
          <p:cNvPr id="6" name="Text 4"/>
          <p:cNvSpPr/>
          <p:nvPr/>
        </p:nvSpPr>
        <p:spPr>
          <a:xfrm>
            <a:off x="320040" y="1234440"/>
            <a:ext cx="2743200" cy="640080"/>
          </a:xfrm>
          <a:prstGeom prst="rect">
            <a:avLst/>
          </a:prstGeom>
          <a:noFill/>
          <a:ln/>
        </p:spPr>
        <p:txBody>
          <a:bodyPr wrap="square" rtlCol="0" anchor="ctr"/>
          <a:lstStyle/>
          <a:p>
            <a:pPr marL="0" indent="0" algn="ctr">
              <a:buNone/>
            </a:pPr>
            <a:r>
              <a:rPr lang="en-US" sz="3200" b="1" dirty="0">
                <a:solidFill>
                  <a:srgbClr val="E8A020"/>
                </a:solidFill>
                <a:latin typeface="Calibri" pitchFamily="34" charset="0"/>
                <a:ea typeface="Calibri" pitchFamily="34" charset="-122"/>
                <a:cs typeface="Calibri" pitchFamily="34" charset="-120"/>
              </a:rPr>
              <a:t>01</a:t>
            </a:r>
            <a:endParaRPr lang="en-US" sz="3200" dirty="0"/>
          </a:p>
        </p:txBody>
      </p:sp>
      <p:sp>
        <p:nvSpPr>
          <p:cNvPr id="7" name="Text 5"/>
          <p:cNvSpPr/>
          <p:nvPr/>
        </p:nvSpPr>
        <p:spPr>
          <a:xfrm>
            <a:off x="457200" y="1920240"/>
            <a:ext cx="2468880" cy="502920"/>
          </a:xfrm>
          <a:prstGeom prst="rect">
            <a:avLst/>
          </a:prstGeom>
          <a:noFill/>
          <a:ln/>
        </p:spPr>
        <p:txBody>
          <a:bodyPr wrap="square" rtlCol="0" anchor="ctr"/>
          <a:lstStyle/>
          <a:p>
            <a:pPr marL="0" indent="0" algn="ctr">
              <a:buNone/>
            </a:pPr>
            <a:r>
              <a:rPr lang="en-US" sz="1400" b="1" dirty="0">
                <a:solidFill>
                  <a:srgbClr val="1F4E79"/>
                </a:solidFill>
                <a:latin typeface="Calibri" pitchFamily="34" charset="0"/>
                <a:ea typeface="Calibri" pitchFamily="34" charset="-122"/>
                <a:cs typeface="Calibri" pitchFamily="34" charset="-120"/>
              </a:rPr>
              <a:t>Inefficient Pricing</a:t>
            </a:r>
            <a:endParaRPr lang="en-US" sz="1400" dirty="0"/>
          </a:p>
        </p:txBody>
      </p:sp>
      <p:sp>
        <p:nvSpPr>
          <p:cNvPr id="8" name="Text 6"/>
          <p:cNvSpPr/>
          <p:nvPr/>
        </p:nvSpPr>
        <p:spPr>
          <a:xfrm>
            <a:off x="457200" y="2468880"/>
            <a:ext cx="2468880" cy="1737360"/>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Some brands are priced too high, reducing sales volume despite strong margins</a:t>
            </a:r>
            <a:endParaRPr lang="en-US" sz="1200" dirty="0"/>
          </a:p>
        </p:txBody>
      </p:sp>
      <p:sp>
        <p:nvSpPr>
          <p:cNvPr id="9" name="Shape 7"/>
          <p:cNvSpPr/>
          <p:nvPr/>
        </p:nvSpPr>
        <p:spPr>
          <a:xfrm>
            <a:off x="3246120" y="1097280"/>
            <a:ext cx="2743200" cy="3474720"/>
          </a:xfrm>
          <a:prstGeom prst="rect">
            <a:avLst/>
          </a:prstGeom>
          <a:solidFill>
            <a:srgbClr val="F4F8FC"/>
          </a:solidFill>
          <a:ln w="12700">
            <a:solidFill>
              <a:srgbClr val="BDD7EE"/>
            </a:solidFill>
            <a:prstDash val="solid"/>
          </a:ln>
        </p:spPr>
      </p:sp>
      <p:sp>
        <p:nvSpPr>
          <p:cNvPr id="10" name="Shape 8"/>
          <p:cNvSpPr/>
          <p:nvPr/>
        </p:nvSpPr>
        <p:spPr>
          <a:xfrm>
            <a:off x="3246120" y="1097280"/>
            <a:ext cx="2743200" cy="109728"/>
          </a:xfrm>
          <a:prstGeom prst="rect">
            <a:avLst/>
          </a:prstGeom>
          <a:solidFill>
            <a:srgbClr val="E8A020"/>
          </a:solidFill>
          <a:ln w="12700">
            <a:solidFill>
              <a:srgbClr val="E8A020"/>
            </a:solidFill>
            <a:prstDash val="solid"/>
          </a:ln>
        </p:spPr>
      </p:sp>
      <p:sp>
        <p:nvSpPr>
          <p:cNvPr id="11" name="Text 9"/>
          <p:cNvSpPr/>
          <p:nvPr/>
        </p:nvSpPr>
        <p:spPr>
          <a:xfrm>
            <a:off x="3246120" y="1234440"/>
            <a:ext cx="2743200" cy="640080"/>
          </a:xfrm>
          <a:prstGeom prst="rect">
            <a:avLst/>
          </a:prstGeom>
          <a:noFill/>
          <a:ln/>
        </p:spPr>
        <p:txBody>
          <a:bodyPr wrap="square" rtlCol="0" anchor="ctr"/>
          <a:lstStyle/>
          <a:p>
            <a:pPr marL="0" indent="0" algn="ctr">
              <a:buNone/>
            </a:pPr>
            <a:r>
              <a:rPr lang="en-US" sz="3200" b="1" dirty="0">
                <a:solidFill>
                  <a:srgbClr val="E8A020"/>
                </a:solidFill>
                <a:latin typeface="Calibri" pitchFamily="34" charset="0"/>
                <a:ea typeface="Calibri" pitchFamily="34" charset="-122"/>
                <a:cs typeface="Calibri" pitchFamily="34" charset="-120"/>
              </a:rPr>
              <a:t>02</a:t>
            </a:r>
            <a:endParaRPr lang="en-US" sz="3200" dirty="0"/>
          </a:p>
        </p:txBody>
      </p:sp>
      <p:sp>
        <p:nvSpPr>
          <p:cNvPr id="12" name="Text 10"/>
          <p:cNvSpPr/>
          <p:nvPr/>
        </p:nvSpPr>
        <p:spPr>
          <a:xfrm>
            <a:off x="3383280" y="1920240"/>
            <a:ext cx="2468880" cy="502920"/>
          </a:xfrm>
          <a:prstGeom prst="rect">
            <a:avLst/>
          </a:prstGeom>
          <a:noFill/>
          <a:ln/>
        </p:spPr>
        <p:txBody>
          <a:bodyPr wrap="square" rtlCol="0" anchor="ctr"/>
          <a:lstStyle/>
          <a:p>
            <a:pPr marL="0" indent="0" algn="ctr">
              <a:buNone/>
            </a:pPr>
            <a:r>
              <a:rPr lang="en-US" sz="1400" b="1" dirty="0">
                <a:solidFill>
                  <a:srgbClr val="1F4E79"/>
                </a:solidFill>
                <a:latin typeface="Calibri" pitchFamily="34" charset="0"/>
                <a:ea typeface="Calibri" pitchFamily="34" charset="-122"/>
                <a:cs typeface="Calibri" pitchFamily="34" charset="-120"/>
              </a:rPr>
              <a:t>Poor Inventory Turnover</a:t>
            </a:r>
            <a:endParaRPr lang="en-US" sz="1400" dirty="0"/>
          </a:p>
        </p:txBody>
      </p:sp>
      <p:sp>
        <p:nvSpPr>
          <p:cNvPr id="13" name="Text 11"/>
          <p:cNvSpPr/>
          <p:nvPr/>
        </p:nvSpPr>
        <p:spPr>
          <a:xfrm>
            <a:off x="3383280" y="2468880"/>
            <a:ext cx="2468880" cy="1737360"/>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Capital locked in slow-moving stock, increasing holding costs</a:t>
            </a:r>
            <a:endParaRPr lang="en-US" sz="1200" dirty="0"/>
          </a:p>
        </p:txBody>
      </p:sp>
      <p:sp>
        <p:nvSpPr>
          <p:cNvPr id="14" name="Shape 12"/>
          <p:cNvSpPr/>
          <p:nvPr/>
        </p:nvSpPr>
        <p:spPr>
          <a:xfrm>
            <a:off x="6172200" y="1097280"/>
            <a:ext cx="2743200" cy="3474720"/>
          </a:xfrm>
          <a:prstGeom prst="rect">
            <a:avLst/>
          </a:prstGeom>
          <a:solidFill>
            <a:srgbClr val="F4F8FC"/>
          </a:solidFill>
          <a:ln w="12700">
            <a:solidFill>
              <a:srgbClr val="BDD7EE"/>
            </a:solidFill>
            <a:prstDash val="solid"/>
          </a:ln>
        </p:spPr>
      </p:sp>
      <p:sp>
        <p:nvSpPr>
          <p:cNvPr id="15" name="Shape 13"/>
          <p:cNvSpPr/>
          <p:nvPr/>
        </p:nvSpPr>
        <p:spPr>
          <a:xfrm>
            <a:off x="6172200" y="1097280"/>
            <a:ext cx="2743200" cy="109728"/>
          </a:xfrm>
          <a:prstGeom prst="rect">
            <a:avLst/>
          </a:prstGeom>
          <a:solidFill>
            <a:srgbClr val="E8A020"/>
          </a:solidFill>
          <a:ln w="12700">
            <a:solidFill>
              <a:srgbClr val="E8A020"/>
            </a:solidFill>
            <a:prstDash val="solid"/>
          </a:ln>
        </p:spPr>
      </p:sp>
      <p:sp>
        <p:nvSpPr>
          <p:cNvPr id="16" name="Text 14"/>
          <p:cNvSpPr/>
          <p:nvPr/>
        </p:nvSpPr>
        <p:spPr>
          <a:xfrm>
            <a:off x="6172200" y="1234440"/>
            <a:ext cx="2743200" cy="640080"/>
          </a:xfrm>
          <a:prstGeom prst="rect">
            <a:avLst/>
          </a:prstGeom>
          <a:noFill/>
          <a:ln/>
        </p:spPr>
        <p:txBody>
          <a:bodyPr wrap="square" rtlCol="0" anchor="ctr"/>
          <a:lstStyle/>
          <a:p>
            <a:pPr marL="0" indent="0" algn="ctr">
              <a:buNone/>
            </a:pPr>
            <a:r>
              <a:rPr lang="en-US" sz="3200" b="1" dirty="0">
                <a:solidFill>
                  <a:srgbClr val="E8A020"/>
                </a:solidFill>
                <a:latin typeface="Calibri" pitchFamily="34" charset="0"/>
                <a:ea typeface="Calibri" pitchFamily="34" charset="-122"/>
                <a:cs typeface="Calibri" pitchFamily="34" charset="-120"/>
              </a:rPr>
              <a:t>03</a:t>
            </a:r>
            <a:endParaRPr lang="en-US" sz="3200" dirty="0"/>
          </a:p>
        </p:txBody>
      </p:sp>
      <p:sp>
        <p:nvSpPr>
          <p:cNvPr id="17" name="Text 15"/>
          <p:cNvSpPr/>
          <p:nvPr/>
        </p:nvSpPr>
        <p:spPr>
          <a:xfrm>
            <a:off x="6309360" y="1920240"/>
            <a:ext cx="2468880" cy="502920"/>
          </a:xfrm>
          <a:prstGeom prst="rect">
            <a:avLst/>
          </a:prstGeom>
          <a:noFill/>
          <a:ln/>
        </p:spPr>
        <p:txBody>
          <a:bodyPr wrap="square" rtlCol="0" anchor="ctr"/>
          <a:lstStyle/>
          <a:p>
            <a:pPr marL="0" indent="0" algn="ctr">
              <a:buNone/>
            </a:pPr>
            <a:r>
              <a:rPr lang="en-US" sz="1400" b="1" dirty="0">
                <a:solidFill>
                  <a:srgbClr val="1F4E79"/>
                </a:solidFill>
                <a:latin typeface="Calibri" pitchFamily="34" charset="0"/>
                <a:ea typeface="Calibri" pitchFamily="34" charset="-122"/>
                <a:cs typeface="Calibri" pitchFamily="34" charset="-120"/>
              </a:rPr>
              <a:t>Vendor Dependency</a:t>
            </a:r>
            <a:endParaRPr lang="en-US" sz="1400" dirty="0"/>
          </a:p>
        </p:txBody>
      </p:sp>
      <p:sp>
        <p:nvSpPr>
          <p:cNvPr id="18" name="Text 16"/>
          <p:cNvSpPr/>
          <p:nvPr/>
        </p:nvSpPr>
        <p:spPr>
          <a:xfrm>
            <a:off x="6309360" y="2468880"/>
            <a:ext cx="2468880" cy="1737360"/>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Over-reliance on a small number of vendors creates supply chain risk</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F4E79"/>
        </a:solidFill>
        <a:effectLst/>
      </p:bgPr>
    </p:bg>
    <p:spTree>
      <p:nvGrpSpPr>
        <p:cNvPr id="1" name=""/>
        <p:cNvGrpSpPr/>
        <p:nvPr/>
      </p:nvGrpSpPr>
      <p:grpSpPr>
        <a:xfrm>
          <a:off x="0" y="0"/>
          <a:ext cx="0" cy="0"/>
          <a:chOff x="0" y="0"/>
          <a:chExt cx="0" cy="0"/>
        </a:xfrm>
      </p:grpSpPr>
      <p:sp>
        <p:nvSpPr>
          <p:cNvPr id="2" name="Text 0"/>
          <p:cNvSpPr/>
          <p:nvPr/>
        </p:nvSpPr>
        <p:spPr>
          <a:xfrm>
            <a:off x="365760" y="182880"/>
            <a:ext cx="8412480" cy="59436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Key Performance Metrics</a:t>
            </a:r>
            <a:endParaRPr lang="en-US" sz="2800" dirty="0"/>
          </a:p>
        </p:txBody>
      </p:sp>
      <p:sp>
        <p:nvSpPr>
          <p:cNvPr id="3" name="Shape 1"/>
          <p:cNvSpPr/>
          <p:nvPr/>
        </p:nvSpPr>
        <p:spPr>
          <a:xfrm>
            <a:off x="274320" y="960120"/>
            <a:ext cx="2011680" cy="1645920"/>
          </a:xfrm>
          <a:prstGeom prst="rect">
            <a:avLst/>
          </a:prstGeom>
          <a:solidFill>
            <a:srgbClr val="2E75B6"/>
          </a:solidFill>
          <a:ln w="12700">
            <a:solidFill>
              <a:srgbClr val="2E75B6"/>
            </a:solidFill>
            <a:prstDash val="solid"/>
          </a:ln>
        </p:spPr>
      </p:sp>
      <p:sp>
        <p:nvSpPr>
          <p:cNvPr id="4" name="Shape 2"/>
          <p:cNvSpPr/>
          <p:nvPr/>
        </p:nvSpPr>
        <p:spPr>
          <a:xfrm>
            <a:off x="274320" y="960120"/>
            <a:ext cx="2011680" cy="91440"/>
          </a:xfrm>
          <a:prstGeom prst="rect">
            <a:avLst/>
          </a:prstGeom>
          <a:solidFill>
            <a:srgbClr val="E8A020"/>
          </a:solidFill>
          <a:ln w="12700">
            <a:solidFill>
              <a:srgbClr val="E8A020"/>
            </a:solidFill>
            <a:prstDash val="solid"/>
          </a:ln>
        </p:spPr>
      </p:sp>
      <p:sp>
        <p:nvSpPr>
          <p:cNvPr id="5" name="Text 3"/>
          <p:cNvSpPr/>
          <p:nvPr/>
        </p:nvSpPr>
        <p:spPr>
          <a:xfrm>
            <a:off x="274320" y="1188720"/>
            <a:ext cx="2011680" cy="777240"/>
          </a:xfrm>
          <a:prstGeom prst="rect">
            <a:avLst/>
          </a:prstGeom>
          <a:noFill/>
          <a:ln/>
        </p:spPr>
        <p:txBody>
          <a:bodyPr wrap="square"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$448.8M</a:t>
            </a:r>
            <a:endParaRPr lang="en-US" sz="2600" dirty="0"/>
          </a:p>
        </p:txBody>
      </p:sp>
      <p:sp>
        <p:nvSpPr>
          <p:cNvPr id="6" name="Text 4"/>
          <p:cNvSpPr/>
          <p:nvPr/>
        </p:nvSpPr>
        <p:spPr>
          <a:xfrm>
            <a:off x="274320" y="1965960"/>
            <a:ext cx="2011680" cy="457200"/>
          </a:xfrm>
          <a:prstGeom prst="rect">
            <a:avLst/>
          </a:prstGeom>
          <a:noFill/>
          <a:ln/>
        </p:spPr>
        <p:txBody>
          <a:bodyPr wrap="square" rtlCol="0" anchor="ctr"/>
          <a:lstStyle/>
          <a:p>
            <a:pPr marL="0" indent="0" algn="ctr">
              <a:buNone/>
            </a:pPr>
            <a:r>
              <a:rPr lang="en-US" sz="1200" dirty="0">
                <a:solidFill>
                  <a:srgbClr val="BDD7EE"/>
                </a:solidFill>
                <a:latin typeface="Calibri" pitchFamily="34" charset="0"/>
                <a:ea typeface="Calibri" pitchFamily="34" charset="-122"/>
                <a:cs typeface="Calibri" pitchFamily="34" charset="-120"/>
              </a:rPr>
              <a:t>Total Sales</a:t>
            </a:r>
            <a:endParaRPr lang="en-US" sz="1200" dirty="0"/>
          </a:p>
        </p:txBody>
      </p:sp>
      <p:sp>
        <p:nvSpPr>
          <p:cNvPr id="7" name="Shape 5"/>
          <p:cNvSpPr/>
          <p:nvPr/>
        </p:nvSpPr>
        <p:spPr>
          <a:xfrm>
            <a:off x="2450592" y="960120"/>
            <a:ext cx="2011680" cy="1645920"/>
          </a:xfrm>
          <a:prstGeom prst="rect">
            <a:avLst/>
          </a:prstGeom>
          <a:solidFill>
            <a:srgbClr val="2E75B6"/>
          </a:solidFill>
          <a:ln w="12700">
            <a:solidFill>
              <a:srgbClr val="2E75B6"/>
            </a:solidFill>
            <a:prstDash val="solid"/>
          </a:ln>
        </p:spPr>
      </p:sp>
      <p:sp>
        <p:nvSpPr>
          <p:cNvPr id="8" name="Shape 6"/>
          <p:cNvSpPr/>
          <p:nvPr/>
        </p:nvSpPr>
        <p:spPr>
          <a:xfrm>
            <a:off x="2450592" y="960120"/>
            <a:ext cx="2011680" cy="91440"/>
          </a:xfrm>
          <a:prstGeom prst="rect">
            <a:avLst/>
          </a:prstGeom>
          <a:solidFill>
            <a:srgbClr val="E8A020"/>
          </a:solidFill>
          <a:ln w="12700">
            <a:solidFill>
              <a:srgbClr val="E8A020"/>
            </a:solidFill>
            <a:prstDash val="solid"/>
          </a:ln>
        </p:spPr>
      </p:sp>
      <p:sp>
        <p:nvSpPr>
          <p:cNvPr id="9" name="Text 7"/>
          <p:cNvSpPr/>
          <p:nvPr/>
        </p:nvSpPr>
        <p:spPr>
          <a:xfrm>
            <a:off x="2450592" y="1188720"/>
            <a:ext cx="2011680" cy="777240"/>
          </a:xfrm>
          <a:prstGeom prst="rect">
            <a:avLst/>
          </a:prstGeom>
          <a:noFill/>
          <a:ln/>
        </p:spPr>
        <p:txBody>
          <a:bodyPr wrap="square"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$312.0M</a:t>
            </a:r>
            <a:endParaRPr lang="en-US" sz="2600" dirty="0"/>
          </a:p>
        </p:txBody>
      </p:sp>
      <p:sp>
        <p:nvSpPr>
          <p:cNvPr id="10" name="Text 8"/>
          <p:cNvSpPr/>
          <p:nvPr/>
        </p:nvSpPr>
        <p:spPr>
          <a:xfrm>
            <a:off x="2450592" y="1965960"/>
            <a:ext cx="2011680" cy="457200"/>
          </a:xfrm>
          <a:prstGeom prst="rect">
            <a:avLst/>
          </a:prstGeom>
          <a:noFill/>
          <a:ln/>
        </p:spPr>
        <p:txBody>
          <a:bodyPr wrap="square" rtlCol="0" anchor="ctr"/>
          <a:lstStyle/>
          <a:p>
            <a:pPr marL="0" indent="0" algn="ctr">
              <a:buNone/>
            </a:pPr>
            <a:r>
              <a:rPr lang="en-US" sz="1200" dirty="0">
                <a:solidFill>
                  <a:srgbClr val="BDD7EE"/>
                </a:solidFill>
                <a:latin typeface="Calibri" pitchFamily="34" charset="0"/>
                <a:ea typeface="Calibri" pitchFamily="34" charset="-122"/>
                <a:cs typeface="Calibri" pitchFamily="34" charset="-120"/>
              </a:rPr>
              <a:t>Total Purchases</a:t>
            </a:r>
            <a:endParaRPr lang="en-US" sz="1200" dirty="0"/>
          </a:p>
        </p:txBody>
      </p:sp>
      <p:sp>
        <p:nvSpPr>
          <p:cNvPr id="11" name="Shape 9"/>
          <p:cNvSpPr/>
          <p:nvPr/>
        </p:nvSpPr>
        <p:spPr>
          <a:xfrm>
            <a:off x="4626864" y="960120"/>
            <a:ext cx="2011680" cy="1645920"/>
          </a:xfrm>
          <a:prstGeom prst="rect">
            <a:avLst/>
          </a:prstGeom>
          <a:solidFill>
            <a:srgbClr val="2E75B6"/>
          </a:solidFill>
          <a:ln w="12700">
            <a:solidFill>
              <a:srgbClr val="2E75B6"/>
            </a:solidFill>
            <a:prstDash val="solid"/>
          </a:ln>
        </p:spPr>
      </p:sp>
      <p:sp>
        <p:nvSpPr>
          <p:cNvPr id="12" name="Shape 10"/>
          <p:cNvSpPr/>
          <p:nvPr/>
        </p:nvSpPr>
        <p:spPr>
          <a:xfrm>
            <a:off x="4626864" y="960120"/>
            <a:ext cx="2011680" cy="91440"/>
          </a:xfrm>
          <a:prstGeom prst="rect">
            <a:avLst/>
          </a:prstGeom>
          <a:solidFill>
            <a:srgbClr val="E8A020"/>
          </a:solidFill>
          <a:ln w="12700">
            <a:solidFill>
              <a:srgbClr val="E8A020"/>
            </a:solidFill>
            <a:prstDash val="solid"/>
          </a:ln>
        </p:spPr>
      </p:sp>
      <p:sp>
        <p:nvSpPr>
          <p:cNvPr id="13" name="Text 11"/>
          <p:cNvSpPr/>
          <p:nvPr/>
        </p:nvSpPr>
        <p:spPr>
          <a:xfrm>
            <a:off x="4626864" y="1188720"/>
            <a:ext cx="2011680" cy="777240"/>
          </a:xfrm>
          <a:prstGeom prst="rect">
            <a:avLst/>
          </a:prstGeom>
          <a:noFill/>
          <a:ln/>
        </p:spPr>
        <p:txBody>
          <a:bodyPr wrap="square"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$136.8M</a:t>
            </a:r>
            <a:endParaRPr lang="en-US" sz="2600" dirty="0"/>
          </a:p>
        </p:txBody>
      </p:sp>
      <p:sp>
        <p:nvSpPr>
          <p:cNvPr id="14" name="Text 12"/>
          <p:cNvSpPr/>
          <p:nvPr/>
        </p:nvSpPr>
        <p:spPr>
          <a:xfrm>
            <a:off x="4626864" y="1965960"/>
            <a:ext cx="2011680" cy="457200"/>
          </a:xfrm>
          <a:prstGeom prst="rect">
            <a:avLst/>
          </a:prstGeom>
          <a:noFill/>
          <a:ln/>
        </p:spPr>
        <p:txBody>
          <a:bodyPr wrap="square" rtlCol="0" anchor="ctr"/>
          <a:lstStyle/>
          <a:p>
            <a:pPr marL="0" indent="0" algn="ctr">
              <a:buNone/>
            </a:pPr>
            <a:r>
              <a:rPr lang="en-US" sz="1200" dirty="0">
                <a:solidFill>
                  <a:srgbClr val="BDD7EE"/>
                </a:solidFill>
                <a:latin typeface="Calibri" pitchFamily="34" charset="0"/>
                <a:ea typeface="Calibri" pitchFamily="34" charset="-122"/>
                <a:cs typeface="Calibri" pitchFamily="34" charset="-120"/>
              </a:rPr>
              <a:t>Gross Profit</a:t>
            </a:r>
            <a:endParaRPr lang="en-US" sz="1200" dirty="0"/>
          </a:p>
        </p:txBody>
      </p:sp>
      <p:sp>
        <p:nvSpPr>
          <p:cNvPr id="15" name="Shape 13"/>
          <p:cNvSpPr/>
          <p:nvPr/>
        </p:nvSpPr>
        <p:spPr>
          <a:xfrm>
            <a:off x="6803136" y="960120"/>
            <a:ext cx="2011680" cy="1645920"/>
          </a:xfrm>
          <a:prstGeom prst="rect">
            <a:avLst/>
          </a:prstGeom>
          <a:solidFill>
            <a:srgbClr val="2E75B6"/>
          </a:solidFill>
          <a:ln w="12700">
            <a:solidFill>
              <a:srgbClr val="2E75B6"/>
            </a:solidFill>
            <a:prstDash val="solid"/>
          </a:ln>
        </p:spPr>
      </p:sp>
      <p:sp>
        <p:nvSpPr>
          <p:cNvPr id="16" name="Shape 14"/>
          <p:cNvSpPr/>
          <p:nvPr/>
        </p:nvSpPr>
        <p:spPr>
          <a:xfrm>
            <a:off x="6803136" y="960120"/>
            <a:ext cx="2011680" cy="91440"/>
          </a:xfrm>
          <a:prstGeom prst="rect">
            <a:avLst/>
          </a:prstGeom>
          <a:solidFill>
            <a:srgbClr val="E8A020"/>
          </a:solidFill>
          <a:ln w="12700">
            <a:solidFill>
              <a:srgbClr val="E8A020"/>
            </a:solidFill>
            <a:prstDash val="solid"/>
          </a:ln>
        </p:spPr>
      </p:sp>
      <p:sp>
        <p:nvSpPr>
          <p:cNvPr id="17" name="Text 15"/>
          <p:cNvSpPr/>
          <p:nvPr/>
        </p:nvSpPr>
        <p:spPr>
          <a:xfrm>
            <a:off x="6803136" y="1188720"/>
            <a:ext cx="2011680" cy="777240"/>
          </a:xfrm>
          <a:prstGeom prst="rect">
            <a:avLst/>
          </a:prstGeom>
          <a:noFill/>
          <a:ln/>
        </p:spPr>
        <p:txBody>
          <a:bodyPr wrap="square"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30.49%</a:t>
            </a:r>
            <a:endParaRPr lang="en-US" sz="2600" dirty="0"/>
          </a:p>
        </p:txBody>
      </p:sp>
      <p:sp>
        <p:nvSpPr>
          <p:cNvPr id="18" name="Text 16"/>
          <p:cNvSpPr/>
          <p:nvPr/>
        </p:nvSpPr>
        <p:spPr>
          <a:xfrm>
            <a:off x="6803136" y="1965960"/>
            <a:ext cx="2011680" cy="457200"/>
          </a:xfrm>
          <a:prstGeom prst="rect">
            <a:avLst/>
          </a:prstGeom>
          <a:noFill/>
          <a:ln/>
        </p:spPr>
        <p:txBody>
          <a:bodyPr wrap="square" rtlCol="0" anchor="ctr"/>
          <a:lstStyle/>
          <a:p>
            <a:pPr marL="0" indent="0" algn="ctr">
              <a:buNone/>
            </a:pPr>
            <a:r>
              <a:rPr lang="en-US" sz="1200" dirty="0">
                <a:solidFill>
                  <a:srgbClr val="BDD7EE"/>
                </a:solidFill>
                <a:latin typeface="Calibri" pitchFamily="34" charset="0"/>
                <a:ea typeface="Calibri" pitchFamily="34" charset="-122"/>
                <a:cs typeface="Calibri" pitchFamily="34" charset="-120"/>
              </a:rPr>
              <a:t>Profit Margin</a:t>
            </a:r>
            <a:endParaRPr lang="en-US" sz="1200" dirty="0"/>
          </a:p>
        </p:txBody>
      </p:sp>
      <p:sp>
        <p:nvSpPr>
          <p:cNvPr id="19" name="Shape 17"/>
          <p:cNvSpPr/>
          <p:nvPr/>
        </p:nvSpPr>
        <p:spPr>
          <a:xfrm>
            <a:off x="274320" y="2880360"/>
            <a:ext cx="2011680" cy="1645920"/>
          </a:xfrm>
          <a:prstGeom prst="rect">
            <a:avLst/>
          </a:prstGeom>
          <a:solidFill>
            <a:srgbClr val="2E75B6"/>
          </a:solidFill>
          <a:ln w="12700">
            <a:solidFill>
              <a:srgbClr val="2E75B6"/>
            </a:solidFill>
            <a:prstDash val="solid"/>
          </a:ln>
        </p:spPr>
      </p:sp>
      <p:sp>
        <p:nvSpPr>
          <p:cNvPr id="20" name="Shape 18"/>
          <p:cNvSpPr/>
          <p:nvPr/>
        </p:nvSpPr>
        <p:spPr>
          <a:xfrm>
            <a:off x="274320" y="2880360"/>
            <a:ext cx="2011680" cy="91440"/>
          </a:xfrm>
          <a:prstGeom prst="rect">
            <a:avLst/>
          </a:prstGeom>
          <a:solidFill>
            <a:srgbClr val="E8A020"/>
          </a:solidFill>
          <a:ln w="12700">
            <a:solidFill>
              <a:srgbClr val="E8A020"/>
            </a:solidFill>
            <a:prstDash val="solid"/>
          </a:ln>
        </p:spPr>
      </p:sp>
      <p:sp>
        <p:nvSpPr>
          <p:cNvPr id="21" name="Text 19"/>
          <p:cNvSpPr/>
          <p:nvPr/>
        </p:nvSpPr>
        <p:spPr>
          <a:xfrm>
            <a:off x="274320" y="3108960"/>
            <a:ext cx="2011680" cy="777240"/>
          </a:xfrm>
          <a:prstGeom prst="rect">
            <a:avLst/>
          </a:prstGeom>
          <a:noFill/>
          <a:ln/>
        </p:spPr>
        <p:txBody>
          <a:bodyPr wrap="square"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119</a:t>
            </a:r>
            <a:endParaRPr lang="en-US" sz="2600" dirty="0"/>
          </a:p>
        </p:txBody>
      </p:sp>
      <p:sp>
        <p:nvSpPr>
          <p:cNvPr id="22" name="Text 20"/>
          <p:cNvSpPr/>
          <p:nvPr/>
        </p:nvSpPr>
        <p:spPr>
          <a:xfrm>
            <a:off x="274320" y="3886200"/>
            <a:ext cx="2011680" cy="457200"/>
          </a:xfrm>
          <a:prstGeom prst="rect">
            <a:avLst/>
          </a:prstGeom>
          <a:noFill/>
          <a:ln/>
        </p:spPr>
        <p:txBody>
          <a:bodyPr wrap="square" rtlCol="0" anchor="ctr"/>
          <a:lstStyle/>
          <a:p>
            <a:pPr marL="0" indent="0" algn="ctr">
              <a:buNone/>
            </a:pPr>
            <a:r>
              <a:rPr lang="en-US" sz="1200" dirty="0">
                <a:solidFill>
                  <a:srgbClr val="BDD7EE"/>
                </a:solidFill>
                <a:latin typeface="Calibri" pitchFamily="34" charset="0"/>
                <a:ea typeface="Calibri" pitchFamily="34" charset="-122"/>
                <a:cs typeface="Calibri" pitchFamily="34" charset="-120"/>
              </a:rPr>
              <a:t>Total Vendors</a:t>
            </a:r>
            <a:endParaRPr lang="en-US" sz="1200" dirty="0"/>
          </a:p>
        </p:txBody>
      </p:sp>
      <p:sp>
        <p:nvSpPr>
          <p:cNvPr id="23" name="Shape 21"/>
          <p:cNvSpPr/>
          <p:nvPr/>
        </p:nvSpPr>
        <p:spPr>
          <a:xfrm>
            <a:off x="2450592" y="2880360"/>
            <a:ext cx="2011680" cy="1645920"/>
          </a:xfrm>
          <a:prstGeom prst="rect">
            <a:avLst/>
          </a:prstGeom>
          <a:solidFill>
            <a:srgbClr val="2E75B6"/>
          </a:solidFill>
          <a:ln w="12700">
            <a:solidFill>
              <a:srgbClr val="2E75B6"/>
            </a:solidFill>
            <a:prstDash val="solid"/>
          </a:ln>
        </p:spPr>
      </p:sp>
      <p:sp>
        <p:nvSpPr>
          <p:cNvPr id="24" name="Shape 22"/>
          <p:cNvSpPr/>
          <p:nvPr/>
        </p:nvSpPr>
        <p:spPr>
          <a:xfrm>
            <a:off x="2450592" y="2880360"/>
            <a:ext cx="2011680" cy="91440"/>
          </a:xfrm>
          <a:prstGeom prst="rect">
            <a:avLst/>
          </a:prstGeom>
          <a:solidFill>
            <a:srgbClr val="E8A020"/>
          </a:solidFill>
          <a:ln w="12700">
            <a:solidFill>
              <a:srgbClr val="E8A020"/>
            </a:solidFill>
            <a:prstDash val="solid"/>
          </a:ln>
        </p:spPr>
      </p:sp>
      <p:sp>
        <p:nvSpPr>
          <p:cNvPr id="25" name="Text 23"/>
          <p:cNvSpPr/>
          <p:nvPr/>
        </p:nvSpPr>
        <p:spPr>
          <a:xfrm>
            <a:off x="2450592" y="3108960"/>
            <a:ext cx="2011680" cy="777240"/>
          </a:xfrm>
          <a:prstGeom prst="rect">
            <a:avLst/>
          </a:prstGeom>
          <a:noFill/>
          <a:ln/>
        </p:spPr>
        <p:txBody>
          <a:bodyPr wrap="square"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$3.66M</a:t>
            </a:r>
            <a:endParaRPr lang="en-US" sz="2600" dirty="0"/>
          </a:p>
        </p:txBody>
      </p:sp>
      <p:sp>
        <p:nvSpPr>
          <p:cNvPr id="26" name="Text 24"/>
          <p:cNvSpPr/>
          <p:nvPr/>
        </p:nvSpPr>
        <p:spPr>
          <a:xfrm>
            <a:off x="2450592" y="3886200"/>
            <a:ext cx="2011680" cy="457200"/>
          </a:xfrm>
          <a:prstGeom prst="rect">
            <a:avLst/>
          </a:prstGeom>
          <a:noFill/>
          <a:ln/>
        </p:spPr>
        <p:txBody>
          <a:bodyPr wrap="square" rtlCol="0" anchor="ctr"/>
          <a:lstStyle/>
          <a:p>
            <a:pPr marL="0" indent="0" algn="ctr">
              <a:buNone/>
            </a:pPr>
            <a:r>
              <a:rPr lang="en-US" sz="1200" dirty="0">
                <a:solidFill>
                  <a:srgbClr val="BDD7EE"/>
                </a:solidFill>
                <a:latin typeface="Calibri" pitchFamily="34" charset="0"/>
                <a:ea typeface="Calibri" pitchFamily="34" charset="-122"/>
                <a:cs typeface="Calibri" pitchFamily="34" charset="-120"/>
              </a:rPr>
              <a:t>Unsold Inventory</a:t>
            </a:r>
            <a:endParaRPr lang="en-US" sz="1200" dirty="0"/>
          </a:p>
        </p:txBody>
      </p:sp>
      <p:sp>
        <p:nvSpPr>
          <p:cNvPr id="27" name="Shape 25"/>
          <p:cNvSpPr/>
          <p:nvPr/>
        </p:nvSpPr>
        <p:spPr>
          <a:xfrm>
            <a:off x="4626864" y="2880360"/>
            <a:ext cx="2011680" cy="1645920"/>
          </a:xfrm>
          <a:prstGeom prst="rect">
            <a:avLst/>
          </a:prstGeom>
          <a:solidFill>
            <a:srgbClr val="2E75B6"/>
          </a:solidFill>
          <a:ln w="12700">
            <a:solidFill>
              <a:srgbClr val="2E75B6"/>
            </a:solidFill>
            <a:prstDash val="solid"/>
          </a:ln>
        </p:spPr>
      </p:sp>
      <p:sp>
        <p:nvSpPr>
          <p:cNvPr id="28" name="Shape 26"/>
          <p:cNvSpPr/>
          <p:nvPr/>
        </p:nvSpPr>
        <p:spPr>
          <a:xfrm>
            <a:off x="4626864" y="2880360"/>
            <a:ext cx="2011680" cy="91440"/>
          </a:xfrm>
          <a:prstGeom prst="rect">
            <a:avLst/>
          </a:prstGeom>
          <a:solidFill>
            <a:srgbClr val="E8A020"/>
          </a:solidFill>
          <a:ln w="12700">
            <a:solidFill>
              <a:srgbClr val="E8A020"/>
            </a:solidFill>
            <a:prstDash val="solid"/>
          </a:ln>
        </p:spPr>
      </p:sp>
      <p:sp>
        <p:nvSpPr>
          <p:cNvPr id="29" name="Text 27"/>
          <p:cNvSpPr/>
          <p:nvPr/>
        </p:nvSpPr>
        <p:spPr>
          <a:xfrm>
            <a:off x="4626864" y="3108960"/>
            <a:ext cx="2011680" cy="777240"/>
          </a:xfrm>
          <a:prstGeom prst="rect">
            <a:avLst/>
          </a:prstGeom>
          <a:noFill/>
          <a:ln/>
        </p:spPr>
        <p:txBody>
          <a:bodyPr wrap="square"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$67.99M</a:t>
            </a:r>
            <a:endParaRPr lang="en-US" sz="2600" dirty="0"/>
          </a:p>
        </p:txBody>
      </p:sp>
      <p:sp>
        <p:nvSpPr>
          <p:cNvPr id="30" name="Text 28"/>
          <p:cNvSpPr/>
          <p:nvPr/>
        </p:nvSpPr>
        <p:spPr>
          <a:xfrm>
            <a:off x="4626864" y="3886200"/>
            <a:ext cx="2011680" cy="457200"/>
          </a:xfrm>
          <a:prstGeom prst="rect">
            <a:avLst/>
          </a:prstGeom>
          <a:noFill/>
          <a:ln/>
        </p:spPr>
        <p:txBody>
          <a:bodyPr wrap="square" rtlCol="0" anchor="ctr"/>
          <a:lstStyle/>
          <a:p>
            <a:pPr marL="0" indent="0" algn="ctr">
              <a:buNone/>
            </a:pPr>
            <a:r>
              <a:rPr lang="en-US" sz="1200" dirty="0">
                <a:solidFill>
                  <a:srgbClr val="BDD7EE"/>
                </a:solidFill>
                <a:latin typeface="Calibri" pitchFamily="34" charset="0"/>
                <a:ea typeface="Calibri" pitchFamily="34" charset="-122"/>
                <a:cs typeface="Calibri" pitchFamily="34" charset="-120"/>
              </a:rPr>
              <a:t>Top Vendor Sales</a:t>
            </a:r>
            <a:endParaRPr lang="en-US" sz="1200" dirty="0"/>
          </a:p>
        </p:txBody>
      </p:sp>
      <p:sp>
        <p:nvSpPr>
          <p:cNvPr id="31" name="Shape 29"/>
          <p:cNvSpPr/>
          <p:nvPr/>
        </p:nvSpPr>
        <p:spPr>
          <a:xfrm>
            <a:off x="6803136" y="2880360"/>
            <a:ext cx="2011680" cy="1645920"/>
          </a:xfrm>
          <a:prstGeom prst="rect">
            <a:avLst/>
          </a:prstGeom>
          <a:solidFill>
            <a:srgbClr val="2E75B6"/>
          </a:solidFill>
          <a:ln w="12700">
            <a:solidFill>
              <a:srgbClr val="2E75B6"/>
            </a:solidFill>
            <a:prstDash val="solid"/>
          </a:ln>
        </p:spPr>
      </p:sp>
      <p:sp>
        <p:nvSpPr>
          <p:cNvPr id="32" name="Shape 30"/>
          <p:cNvSpPr/>
          <p:nvPr/>
        </p:nvSpPr>
        <p:spPr>
          <a:xfrm>
            <a:off x="6803136" y="2880360"/>
            <a:ext cx="2011680" cy="91440"/>
          </a:xfrm>
          <a:prstGeom prst="rect">
            <a:avLst/>
          </a:prstGeom>
          <a:solidFill>
            <a:srgbClr val="E8A020"/>
          </a:solidFill>
          <a:ln w="12700">
            <a:solidFill>
              <a:srgbClr val="E8A020"/>
            </a:solidFill>
            <a:prstDash val="solid"/>
          </a:ln>
        </p:spPr>
      </p:sp>
      <p:sp>
        <p:nvSpPr>
          <p:cNvPr id="33" name="Text 31"/>
          <p:cNvSpPr/>
          <p:nvPr/>
        </p:nvSpPr>
        <p:spPr>
          <a:xfrm>
            <a:off x="6803136" y="3108960"/>
            <a:ext cx="2011680" cy="777240"/>
          </a:xfrm>
          <a:prstGeom prst="rect">
            <a:avLst/>
          </a:prstGeom>
          <a:noFill/>
          <a:ln/>
        </p:spPr>
        <p:txBody>
          <a:bodyPr wrap="square"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$7.96M</a:t>
            </a:r>
            <a:endParaRPr lang="en-US" sz="2600" dirty="0"/>
          </a:p>
        </p:txBody>
      </p:sp>
      <p:sp>
        <p:nvSpPr>
          <p:cNvPr id="34" name="Text 32"/>
          <p:cNvSpPr/>
          <p:nvPr/>
        </p:nvSpPr>
        <p:spPr>
          <a:xfrm>
            <a:off x="6803136" y="3886200"/>
            <a:ext cx="2011680" cy="457200"/>
          </a:xfrm>
          <a:prstGeom prst="rect">
            <a:avLst/>
          </a:prstGeom>
          <a:noFill/>
          <a:ln/>
        </p:spPr>
        <p:txBody>
          <a:bodyPr wrap="square" rtlCol="0" anchor="ctr"/>
          <a:lstStyle/>
          <a:p>
            <a:pPr marL="0" indent="0" algn="ctr">
              <a:buNone/>
            </a:pPr>
            <a:r>
              <a:rPr lang="en-US" sz="1200" dirty="0">
                <a:solidFill>
                  <a:srgbClr val="BDD7EE"/>
                </a:solidFill>
                <a:latin typeface="Calibri" pitchFamily="34" charset="0"/>
                <a:ea typeface="Calibri" pitchFamily="34" charset="-122"/>
                <a:cs typeface="Calibri" pitchFamily="34" charset="-120"/>
              </a:rPr>
              <a:t>Top Brand Sales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F4E79"/>
          </a:solidFill>
          <a:ln w="12700">
            <a:solidFill>
              <a:srgbClr val="1F4E79"/>
            </a:solidFill>
            <a:prstDash val="solid"/>
          </a:ln>
        </p:spPr>
      </p:sp>
      <p:sp>
        <p:nvSpPr>
          <p:cNvPr id="3" name="Text 1"/>
          <p:cNvSpPr/>
          <p:nvPr/>
        </p:nvSpPr>
        <p:spPr>
          <a:xfrm>
            <a:off x="365760" y="137160"/>
            <a:ext cx="8412480" cy="64008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EDA: Distribution of Key Variables</a:t>
            </a:r>
            <a:endParaRPr lang="en-US" sz="2600" dirty="0"/>
          </a:p>
        </p:txBody>
      </p:sp>
      <p:pic>
        <p:nvPicPr>
          <p:cNvPr id="4" name="Image 0" descr="/mnt/user-data/uploads/distribution_plots.png"/>
          <p:cNvPicPr>
            <a:picLocks noChangeAspect="1"/>
          </p:cNvPicPr>
          <p:nvPr/>
        </p:nvPicPr>
        <p:blipFill>
          <a:blip r:embed="rId3"/>
          <a:stretch>
            <a:fillRect/>
          </a:stretch>
        </p:blipFill>
        <p:spPr>
          <a:xfrm>
            <a:off x="274320" y="1005840"/>
            <a:ext cx="5486400" cy="3931920"/>
          </a:xfrm>
          <a:prstGeom prst="rect">
            <a:avLst/>
          </a:prstGeom>
        </p:spPr>
      </p:pic>
      <p:sp>
        <p:nvSpPr>
          <p:cNvPr id="5" name="Text 2"/>
          <p:cNvSpPr/>
          <p:nvPr/>
        </p:nvSpPr>
        <p:spPr>
          <a:xfrm>
            <a:off x="6035040" y="1005840"/>
            <a:ext cx="2834640" cy="411480"/>
          </a:xfrm>
          <a:prstGeom prst="rect">
            <a:avLst/>
          </a:prstGeom>
          <a:noFill/>
          <a:ln/>
        </p:spPr>
        <p:txBody>
          <a:bodyPr wrap="square" rtlCol="0" anchor="ctr"/>
          <a:lstStyle/>
          <a:p>
            <a:pPr marL="0" indent="0">
              <a:buNone/>
            </a:pPr>
            <a:r>
              <a:rPr lang="en-US" sz="1500" b="1" dirty="0">
                <a:solidFill>
                  <a:srgbClr val="1F4E79"/>
                </a:solidFill>
                <a:latin typeface="Calibri" pitchFamily="34" charset="0"/>
                <a:ea typeface="Calibri" pitchFamily="34" charset="-122"/>
                <a:cs typeface="Calibri" pitchFamily="34" charset="-120"/>
              </a:rPr>
              <a:t>Key Insights</a:t>
            </a:r>
            <a:endParaRPr lang="en-US" sz="1500" dirty="0"/>
          </a:p>
        </p:txBody>
      </p:sp>
      <p:sp>
        <p:nvSpPr>
          <p:cNvPr id="6" name="Shape 3"/>
          <p:cNvSpPr/>
          <p:nvPr/>
        </p:nvSpPr>
        <p:spPr>
          <a:xfrm>
            <a:off x="6035040" y="1508760"/>
            <a:ext cx="2834640" cy="658368"/>
          </a:xfrm>
          <a:prstGeom prst="rect">
            <a:avLst/>
          </a:prstGeom>
          <a:solidFill>
            <a:srgbClr val="F4F8FC"/>
          </a:solidFill>
          <a:ln w="12700">
            <a:solidFill>
              <a:srgbClr val="BDD7EE"/>
            </a:solidFill>
            <a:prstDash val="solid"/>
          </a:ln>
        </p:spPr>
      </p:sp>
      <p:sp>
        <p:nvSpPr>
          <p:cNvPr id="7" name="Shape 4"/>
          <p:cNvSpPr/>
          <p:nvPr/>
        </p:nvSpPr>
        <p:spPr>
          <a:xfrm>
            <a:off x="6035040" y="1508760"/>
            <a:ext cx="73152" cy="658368"/>
          </a:xfrm>
          <a:prstGeom prst="rect">
            <a:avLst/>
          </a:prstGeom>
          <a:solidFill>
            <a:srgbClr val="E8A020"/>
          </a:solidFill>
          <a:ln w="12700">
            <a:solidFill>
              <a:srgbClr val="E8A020"/>
            </a:solidFill>
            <a:prstDash val="solid"/>
          </a:ln>
        </p:spPr>
      </p:sp>
      <p:sp>
        <p:nvSpPr>
          <p:cNvPr id="8" name="Text 5"/>
          <p:cNvSpPr/>
          <p:nvPr/>
        </p:nvSpPr>
        <p:spPr>
          <a:xfrm>
            <a:off x="6172200" y="1508760"/>
            <a:ext cx="2651760" cy="658368"/>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Most variables are right-skewed with outliers</a:t>
            </a:r>
            <a:endParaRPr lang="en-US" sz="1100" dirty="0"/>
          </a:p>
        </p:txBody>
      </p:sp>
      <p:sp>
        <p:nvSpPr>
          <p:cNvPr id="9" name="Shape 6"/>
          <p:cNvSpPr/>
          <p:nvPr/>
        </p:nvSpPr>
        <p:spPr>
          <a:xfrm>
            <a:off x="6035040" y="2286000"/>
            <a:ext cx="2834640" cy="658368"/>
          </a:xfrm>
          <a:prstGeom prst="rect">
            <a:avLst/>
          </a:prstGeom>
          <a:solidFill>
            <a:srgbClr val="F4F8FC"/>
          </a:solidFill>
          <a:ln w="12700">
            <a:solidFill>
              <a:srgbClr val="BDD7EE"/>
            </a:solidFill>
            <a:prstDash val="solid"/>
          </a:ln>
        </p:spPr>
      </p:sp>
      <p:sp>
        <p:nvSpPr>
          <p:cNvPr id="10" name="Shape 7"/>
          <p:cNvSpPr/>
          <p:nvPr/>
        </p:nvSpPr>
        <p:spPr>
          <a:xfrm>
            <a:off x="6035040" y="2286000"/>
            <a:ext cx="73152" cy="658368"/>
          </a:xfrm>
          <a:prstGeom prst="rect">
            <a:avLst/>
          </a:prstGeom>
          <a:solidFill>
            <a:srgbClr val="E8A020"/>
          </a:solidFill>
          <a:ln w="12700">
            <a:solidFill>
              <a:srgbClr val="E8A020"/>
            </a:solidFill>
            <a:prstDash val="solid"/>
          </a:ln>
        </p:spPr>
      </p:sp>
      <p:sp>
        <p:nvSpPr>
          <p:cNvPr id="11" name="Text 8"/>
          <p:cNvSpPr/>
          <p:nvPr/>
        </p:nvSpPr>
        <p:spPr>
          <a:xfrm>
            <a:off x="6172200" y="2286000"/>
            <a:ext cx="2651760" cy="658368"/>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Outliers NOT removed — may be premium brands</a:t>
            </a:r>
            <a:endParaRPr lang="en-US" sz="1100" dirty="0"/>
          </a:p>
        </p:txBody>
      </p:sp>
      <p:sp>
        <p:nvSpPr>
          <p:cNvPr id="12" name="Shape 9"/>
          <p:cNvSpPr/>
          <p:nvPr/>
        </p:nvSpPr>
        <p:spPr>
          <a:xfrm>
            <a:off x="6035040" y="3063240"/>
            <a:ext cx="2834640" cy="658368"/>
          </a:xfrm>
          <a:prstGeom prst="rect">
            <a:avLst/>
          </a:prstGeom>
          <a:solidFill>
            <a:srgbClr val="F4F8FC"/>
          </a:solidFill>
          <a:ln w="12700">
            <a:solidFill>
              <a:srgbClr val="BDD7EE"/>
            </a:solidFill>
            <a:prstDash val="solid"/>
          </a:ln>
        </p:spPr>
      </p:sp>
      <p:sp>
        <p:nvSpPr>
          <p:cNvPr id="13" name="Shape 10"/>
          <p:cNvSpPr/>
          <p:nvPr/>
        </p:nvSpPr>
        <p:spPr>
          <a:xfrm>
            <a:off x="6035040" y="3063240"/>
            <a:ext cx="73152" cy="658368"/>
          </a:xfrm>
          <a:prstGeom prst="rect">
            <a:avLst/>
          </a:prstGeom>
          <a:solidFill>
            <a:srgbClr val="E8A020"/>
          </a:solidFill>
          <a:ln w="12700">
            <a:solidFill>
              <a:srgbClr val="E8A020"/>
            </a:solidFill>
            <a:prstDash val="solid"/>
          </a:ln>
        </p:spPr>
      </p:sp>
      <p:sp>
        <p:nvSpPr>
          <p:cNvPr id="14" name="Text 11"/>
          <p:cNvSpPr/>
          <p:nvPr/>
        </p:nvSpPr>
        <p:spPr>
          <a:xfrm>
            <a:off x="6172200" y="3063240"/>
            <a:ext cx="2651760" cy="658368"/>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Profit Margin normally distributed (20-40%)</a:t>
            </a:r>
            <a:endParaRPr lang="en-US" sz="1100" dirty="0"/>
          </a:p>
        </p:txBody>
      </p:sp>
      <p:sp>
        <p:nvSpPr>
          <p:cNvPr id="15" name="Shape 12"/>
          <p:cNvSpPr/>
          <p:nvPr/>
        </p:nvSpPr>
        <p:spPr>
          <a:xfrm>
            <a:off x="6035040" y="3840480"/>
            <a:ext cx="2834640" cy="658368"/>
          </a:xfrm>
          <a:prstGeom prst="rect">
            <a:avLst/>
          </a:prstGeom>
          <a:solidFill>
            <a:srgbClr val="F4F8FC"/>
          </a:solidFill>
          <a:ln w="12700">
            <a:solidFill>
              <a:srgbClr val="BDD7EE"/>
            </a:solidFill>
            <a:prstDash val="solid"/>
          </a:ln>
        </p:spPr>
      </p:sp>
      <p:sp>
        <p:nvSpPr>
          <p:cNvPr id="16" name="Shape 13"/>
          <p:cNvSpPr/>
          <p:nvPr/>
        </p:nvSpPr>
        <p:spPr>
          <a:xfrm>
            <a:off x="6035040" y="3840480"/>
            <a:ext cx="73152" cy="658368"/>
          </a:xfrm>
          <a:prstGeom prst="rect">
            <a:avLst/>
          </a:prstGeom>
          <a:solidFill>
            <a:srgbClr val="E8A020"/>
          </a:solidFill>
          <a:ln w="12700">
            <a:solidFill>
              <a:srgbClr val="E8A020"/>
            </a:solidFill>
            <a:prstDash val="solid"/>
          </a:ln>
        </p:spPr>
      </p:sp>
      <p:sp>
        <p:nvSpPr>
          <p:cNvPr id="17" name="Text 14"/>
          <p:cNvSpPr/>
          <p:nvPr/>
        </p:nvSpPr>
        <p:spPr>
          <a:xfrm>
            <a:off x="6172200" y="3840480"/>
            <a:ext cx="2651760" cy="658368"/>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Stock Turnover mostly below 10 — slow moving</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F4E79"/>
          </a:solidFill>
          <a:ln w="12700">
            <a:solidFill>
              <a:srgbClr val="1F4E79"/>
            </a:solidFill>
            <a:prstDash val="solid"/>
          </a:ln>
        </p:spPr>
      </p:sp>
      <p:sp>
        <p:nvSpPr>
          <p:cNvPr id="3" name="Text 1"/>
          <p:cNvSpPr/>
          <p:nvPr/>
        </p:nvSpPr>
        <p:spPr>
          <a:xfrm>
            <a:off x="365760" y="137160"/>
            <a:ext cx="8412480" cy="64008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EDA: Correlation Heatmap</a:t>
            </a:r>
            <a:endParaRPr lang="en-US" sz="2600" dirty="0"/>
          </a:p>
        </p:txBody>
      </p:sp>
      <p:pic>
        <p:nvPicPr>
          <p:cNvPr id="4" name="Image 0" descr="/mnt/user-data/uploads/correlation_heatmap.png"/>
          <p:cNvPicPr>
            <a:picLocks noChangeAspect="1"/>
          </p:cNvPicPr>
          <p:nvPr/>
        </p:nvPicPr>
        <p:blipFill>
          <a:blip r:embed="rId3"/>
          <a:stretch>
            <a:fillRect/>
          </a:stretch>
        </p:blipFill>
        <p:spPr>
          <a:xfrm>
            <a:off x="274320" y="1005840"/>
            <a:ext cx="5486400" cy="3931920"/>
          </a:xfrm>
          <a:prstGeom prst="rect">
            <a:avLst/>
          </a:prstGeom>
        </p:spPr>
      </p:pic>
      <p:sp>
        <p:nvSpPr>
          <p:cNvPr id="5" name="Text 2"/>
          <p:cNvSpPr/>
          <p:nvPr/>
        </p:nvSpPr>
        <p:spPr>
          <a:xfrm>
            <a:off x="6035040" y="1005840"/>
            <a:ext cx="2834640" cy="411480"/>
          </a:xfrm>
          <a:prstGeom prst="rect">
            <a:avLst/>
          </a:prstGeom>
          <a:noFill/>
          <a:ln/>
        </p:spPr>
        <p:txBody>
          <a:bodyPr wrap="square" rtlCol="0" anchor="ctr"/>
          <a:lstStyle/>
          <a:p>
            <a:pPr marL="0" indent="0">
              <a:buNone/>
            </a:pPr>
            <a:r>
              <a:rPr lang="en-US" sz="1500" b="1" dirty="0">
                <a:solidFill>
                  <a:srgbClr val="1F4E79"/>
                </a:solidFill>
                <a:latin typeface="Calibri" pitchFamily="34" charset="0"/>
                <a:ea typeface="Calibri" pitchFamily="34" charset="-122"/>
                <a:cs typeface="Calibri" pitchFamily="34" charset="-120"/>
              </a:rPr>
              <a:t>Key Correlations</a:t>
            </a:r>
            <a:endParaRPr lang="en-US" sz="1500" dirty="0"/>
          </a:p>
        </p:txBody>
      </p:sp>
      <p:sp>
        <p:nvSpPr>
          <p:cNvPr id="6" name="Shape 3"/>
          <p:cNvSpPr/>
          <p:nvPr/>
        </p:nvSpPr>
        <p:spPr>
          <a:xfrm>
            <a:off x="6035040" y="1508760"/>
            <a:ext cx="2834640" cy="658368"/>
          </a:xfrm>
          <a:prstGeom prst="rect">
            <a:avLst/>
          </a:prstGeom>
          <a:solidFill>
            <a:srgbClr val="F4F8FC"/>
          </a:solidFill>
          <a:ln w="12700">
            <a:solidFill>
              <a:srgbClr val="BDD7EE"/>
            </a:solidFill>
            <a:prstDash val="solid"/>
          </a:ln>
        </p:spPr>
      </p:sp>
      <p:sp>
        <p:nvSpPr>
          <p:cNvPr id="7" name="Shape 4"/>
          <p:cNvSpPr/>
          <p:nvPr/>
        </p:nvSpPr>
        <p:spPr>
          <a:xfrm>
            <a:off x="6035040" y="1508760"/>
            <a:ext cx="73152" cy="658368"/>
          </a:xfrm>
          <a:prstGeom prst="rect">
            <a:avLst/>
          </a:prstGeom>
          <a:solidFill>
            <a:srgbClr val="2E75B6"/>
          </a:solidFill>
          <a:ln w="12700">
            <a:solidFill>
              <a:srgbClr val="2E75B6"/>
            </a:solidFill>
            <a:prstDash val="solid"/>
          </a:ln>
        </p:spPr>
      </p:sp>
      <p:sp>
        <p:nvSpPr>
          <p:cNvPr id="8" name="Text 5"/>
          <p:cNvSpPr/>
          <p:nvPr/>
        </p:nvSpPr>
        <p:spPr>
          <a:xfrm>
            <a:off x="6172200" y="1508760"/>
            <a:ext cx="2651760" cy="658368"/>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Purchase qty ↔ Sales qty: 1.00 (perfect alignment)</a:t>
            </a:r>
            <a:endParaRPr lang="en-US" sz="1100" dirty="0"/>
          </a:p>
        </p:txBody>
      </p:sp>
      <p:sp>
        <p:nvSpPr>
          <p:cNvPr id="9" name="Shape 6"/>
          <p:cNvSpPr/>
          <p:nvPr/>
        </p:nvSpPr>
        <p:spPr>
          <a:xfrm>
            <a:off x="6035040" y="2286000"/>
            <a:ext cx="2834640" cy="658368"/>
          </a:xfrm>
          <a:prstGeom prst="rect">
            <a:avLst/>
          </a:prstGeom>
          <a:solidFill>
            <a:srgbClr val="F4F8FC"/>
          </a:solidFill>
          <a:ln w="12700">
            <a:solidFill>
              <a:srgbClr val="BDD7EE"/>
            </a:solidFill>
            <a:prstDash val="solid"/>
          </a:ln>
        </p:spPr>
      </p:sp>
      <p:sp>
        <p:nvSpPr>
          <p:cNvPr id="10" name="Shape 7"/>
          <p:cNvSpPr/>
          <p:nvPr/>
        </p:nvSpPr>
        <p:spPr>
          <a:xfrm>
            <a:off x="6035040" y="2286000"/>
            <a:ext cx="73152" cy="658368"/>
          </a:xfrm>
          <a:prstGeom prst="rect">
            <a:avLst/>
          </a:prstGeom>
          <a:solidFill>
            <a:srgbClr val="2E75B6"/>
          </a:solidFill>
          <a:ln w="12700">
            <a:solidFill>
              <a:srgbClr val="2E75B6"/>
            </a:solidFill>
            <a:prstDash val="solid"/>
          </a:ln>
        </p:spPr>
      </p:sp>
      <p:sp>
        <p:nvSpPr>
          <p:cNvPr id="11" name="Text 8"/>
          <p:cNvSpPr/>
          <p:nvPr/>
        </p:nvSpPr>
        <p:spPr>
          <a:xfrm>
            <a:off x="6172200" y="2286000"/>
            <a:ext cx="2651760" cy="658368"/>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Purchase $ ↔ Gross Profit: 0.96 (strong)</a:t>
            </a:r>
            <a:endParaRPr lang="en-US" sz="1100" dirty="0"/>
          </a:p>
        </p:txBody>
      </p:sp>
      <p:sp>
        <p:nvSpPr>
          <p:cNvPr id="12" name="Shape 9"/>
          <p:cNvSpPr/>
          <p:nvPr/>
        </p:nvSpPr>
        <p:spPr>
          <a:xfrm>
            <a:off x="6035040" y="3063240"/>
            <a:ext cx="2834640" cy="658368"/>
          </a:xfrm>
          <a:prstGeom prst="rect">
            <a:avLst/>
          </a:prstGeom>
          <a:solidFill>
            <a:srgbClr val="F4F8FC"/>
          </a:solidFill>
          <a:ln w="12700">
            <a:solidFill>
              <a:srgbClr val="BDD7EE"/>
            </a:solidFill>
            <a:prstDash val="solid"/>
          </a:ln>
        </p:spPr>
      </p:sp>
      <p:sp>
        <p:nvSpPr>
          <p:cNvPr id="13" name="Shape 10"/>
          <p:cNvSpPr/>
          <p:nvPr/>
        </p:nvSpPr>
        <p:spPr>
          <a:xfrm>
            <a:off x="6035040" y="3063240"/>
            <a:ext cx="73152" cy="658368"/>
          </a:xfrm>
          <a:prstGeom prst="rect">
            <a:avLst/>
          </a:prstGeom>
          <a:solidFill>
            <a:srgbClr val="2E75B6"/>
          </a:solidFill>
          <a:ln w="12700">
            <a:solidFill>
              <a:srgbClr val="2E75B6"/>
            </a:solidFill>
            <a:prstDash val="solid"/>
          </a:ln>
        </p:spPr>
      </p:sp>
      <p:sp>
        <p:nvSpPr>
          <p:cNvPr id="14" name="Text 11"/>
          <p:cNvSpPr/>
          <p:nvPr/>
        </p:nvSpPr>
        <p:spPr>
          <a:xfrm>
            <a:off x="6172200" y="3063240"/>
            <a:ext cx="2651760" cy="658368"/>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Price change: near-zero impact on revenue</a:t>
            </a:r>
            <a:endParaRPr lang="en-US" sz="1100" dirty="0"/>
          </a:p>
        </p:txBody>
      </p:sp>
      <p:sp>
        <p:nvSpPr>
          <p:cNvPr id="15" name="Shape 12"/>
          <p:cNvSpPr/>
          <p:nvPr/>
        </p:nvSpPr>
        <p:spPr>
          <a:xfrm>
            <a:off x="6035040" y="3840480"/>
            <a:ext cx="2834640" cy="658368"/>
          </a:xfrm>
          <a:prstGeom prst="rect">
            <a:avLst/>
          </a:prstGeom>
          <a:solidFill>
            <a:srgbClr val="F4F8FC"/>
          </a:solidFill>
          <a:ln w="12700">
            <a:solidFill>
              <a:srgbClr val="BDD7EE"/>
            </a:solidFill>
            <a:prstDash val="solid"/>
          </a:ln>
        </p:spPr>
      </p:sp>
      <p:sp>
        <p:nvSpPr>
          <p:cNvPr id="16" name="Shape 13"/>
          <p:cNvSpPr/>
          <p:nvPr/>
        </p:nvSpPr>
        <p:spPr>
          <a:xfrm>
            <a:off x="6035040" y="3840480"/>
            <a:ext cx="73152" cy="658368"/>
          </a:xfrm>
          <a:prstGeom prst="rect">
            <a:avLst/>
          </a:prstGeom>
          <a:solidFill>
            <a:srgbClr val="2E75B6"/>
          </a:solidFill>
          <a:ln w="12700">
            <a:solidFill>
              <a:srgbClr val="2E75B6"/>
            </a:solidFill>
            <a:prstDash val="solid"/>
          </a:ln>
        </p:spPr>
      </p:sp>
      <p:sp>
        <p:nvSpPr>
          <p:cNvPr id="17" name="Text 14"/>
          <p:cNvSpPr/>
          <p:nvPr/>
        </p:nvSpPr>
        <p:spPr>
          <a:xfrm>
            <a:off x="6172200" y="3840480"/>
            <a:ext cx="2651760" cy="658368"/>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Profit Margin ↔ Stock Turnover: 0.41 (moderate)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2E75B6"/>
          </a:solidFill>
          <a:ln w="12700">
            <a:solidFill>
              <a:srgbClr val="2E75B6"/>
            </a:solidFill>
            <a:prstDash val="solid"/>
          </a:ln>
        </p:spPr>
      </p:sp>
      <p:sp>
        <p:nvSpPr>
          <p:cNvPr id="3" name="Text 1"/>
          <p:cNvSpPr/>
          <p:nvPr/>
        </p:nvSpPr>
        <p:spPr>
          <a:xfrm>
            <a:off x="365760" y="137160"/>
            <a:ext cx="8412480" cy="64008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RQ1: Brands Needing Promotional Adjustments</a:t>
            </a:r>
            <a:endParaRPr lang="en-US" sz="2200" dirty="0"/>
          </a:p>
        </p:txBody>
      </p:sp>
      <p:pic>
        <p:nvPicPr>
          <p:cNvPr id="4" name="Image 0" descr="/mnt/user-data/uploads/rq1_target_brands.png"/>
          <p:cNvPicPr>
            <a:picLocks noChangeAspect="1"/>
          </p:cNvPicPr>
          <p:nvPr/>
        </p:nvPicPr>
        <p:blipFill>
          <a:blip r:embed="rId3"/>
          <a:stretch>
            <a:fillRect/>
          </a:stretch>
        </p:blipFill>
        <p:spPr>
          <a:xfrm>
            <a:off x="274320" y="1005840"/>
            <a:ext cx="5943600" cy="3931920"/>
          </a:xfrm>
          <a:prstGeom prst="rect">
            <a:avLst/>
          </a:prstGeom>
        </p:spPr>
      </p:pic>
      <p:sp>
        <p:nvSpPr>
          <p:cNvPr id="5" name="Shape 2"/>
          <p:cNvSpPr/>
          <p:nvPr/>
        </p:nvSpPr>
        <p:spPr>
          <a:xfrm>
            <a:off x="6400800" y="1005840"/>
            <a:ext cx="2468880" cy="1280160"/>
          </a:xfrm>
          <a:prstGeom prst="rect">
            <a:avLst/>
          </a:prstGeom>
          <a:solidFill>
            <a:srgbClr val="1F4E79"/>
          </a:solidFill>
          <a:ln w="12700">
            <a:solidFill>
              <a:srgbClr val="1F4E79"/>
            </a:solidFill>
            <a:prstDash val="solid"/>
          </a:ln>
        </p:spPr>
      </p:sp>
      <p:sp>
        <p:nvSpPr>
          <p:cNvPr id="6" name="Text 3"/>
          <p:cNvSpPr/>
          <p:nvPr/>
        </p:nvSpPr>
        <p:spPr>
          <a:xfrm>
            <a:off x="6400800" y="1097280"/>
            <a:ext cx="2468880" cy="685800"/>
          </a:xfrm>
          <a:prstGeom prst="rect">
            <a:avLst/>
          </a:prstGeom>
          <a:noFill/>
          <a:ln/>
        </p:spPr>
        <p:txBody>
          <a:bodyPr wrap="square" rtlCol="0" anchor="ctr"/>
          <a:lstStyle/>
          <a:p>
            <a:pPr marL="0" indent="0" algn="ctr">
              <a:buNone/>
            </a:pPr>
            <a:r>
              <a:rPr lang="en-US" sz="4000" b="1" dirty="0">
                <a:solidFill>
                  <a:srgbClr val="E8A020"/>
                </a:solidFill>
                <a:latin typeface="Calibri" pitchFamily="34" charset="0"/>
                <a:ea typeface="Calibri" pitchFamily="34" charset="-122"/>
                <a:cs typeface="Calibri" pitchFamily="34" charset="-120"/>
              </a:rPr>
              <a:t>193</a:t>
            </a:r>
            <a:endParaRPr lang="en-US" sz="4000" dirty="0"/>
          </a:p>
        </p:txBody>
      </p:sp>
      <p:sp>
        <p:nvSpPr>
          <p:cNvPr id="7" name="Text 4"/>
          <p:cNvSpPr/>
          <p:nvPr/>
        </p:nvSpPr>
        <p:spPr>
          <a:xfrm>
            <a:off x="6400800" y="1783080"/>
            <a:ext cx="2468880" cy="365760"/>
          </a:xfrm>
          <a:prstGeom prst="rect">
            <a:avLst/>
          </a:prstGeom>
          <a:noFill/>
          <a:ln/>
        </p:spPr>
        <p:txBody>
          <a:bodyPr wrap="square"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Target Brands</a:t>
            </a:r>
            <a:endParaRPr lang="en-US" sz="1300" dirty="0"/>
          </a:p>
        </p:txBody>
      </p:sp>
      <p:sp>
        <p:nvSpPr>
          <p:cNvPr id="8" name="Text 5"/>
          <p:cNvSpPr/>
          <p:nvPr/>
        </p:nvSpPr>
        <p:spPr>
          <a:xfrm>
            <a:off x="6400800" y="2468880"/>
            <a:ext cx="2468880" cy="320040"/>
          </a:xfrm>
          <a:prstGeom prst="rect">
            <a:avLst/>
          </a:prstGeom>
          <a:noFill/>
          <a:ln/>
        </p:spPr>
        <p:txBody>
          <a:bodyPr wrap="square" rtlCol="0" anchor="ctr"/>
          <a:lstStyle/>
          <a:p>
            <a:pPr marL="0" indent="0">
              <a:buNone/>
            </a:pPr>
            <a:r>
              <a:rPr lang="en-US" sz="1300" b="1" dirty="0">
                <a:solidFill>
                  <a:srgbClr val="1F4E79"/>
                </a:solidFill>
                <a:latin typeface="Calibri" pitchFamily="34" charset="0"/>
                <a:ea typeface="Calibri" pitchFamily="34" charset="-122"/>
                <a:cs typeface="Calibri" pitchFamily="34" charset="-120"/>
              </a:rPr>
              <a:t>Finding</a:t>
            </a:r>
            <a:endParaRPr lang="en-US" sz="1300" dirty="0"/>
          </a:p>
        </p:txBody>
      </p:sp>
      <p:sp>
        <p:nvSpPr>
          <p:cNvPr id="9" name="Text 6"/>
          <p:cNvSpPr/>
          <p:nvPr/>
        </p:nvSpPr>
        <p:spPr>
          <a:xfrm>
            <a:off x="6400800" y="2834640"/>
            <a:ext cx="2468880" cy="347472"/>
          </a:xfrm>
          <a:prstGeom prst="rect">
            <a:avLst/>
          </a:prstGeom>
          <a:noFill/>
          <a:ln/>
        </p:spPr>
        <p:txBody>
          <a:bodyPr wrap="square" rtlCol="0" anchor="ctr"/>
          <a:lstStyle/>
          <a:p>
            <a:pPr marL="342900" indent="-342900">
              <a:buSzPct val="100000"/>
              <a:buChar char="•"/>
            </a:pPr>
            <a:r>
              <a:rPr lang="en-US" sz="1100" dirty="0">
                <a:solidFill>
                  <a:srgbClr val="1A1A2E"/>
                </a:solidFill>
                <a:latin typeface="Calibri" pitchFamily="34" charset="0"/>
                <a:ea typeface="Calibri" pitchFamily="34" charset="-122"/>
                <a:cs typeface="Calibri" pitchFamily="34" charset="-120"/>
              </a:rPr>
              <a:t>Sales below $577</a:t>
            </a:r>
            <a:endParaRPr lang="en-US" sz="1100" dirty="0"/>
          </a:p>
        </p:txBody>
      </p:sp>
      <p:sp>
        <p:nvSpPr>
          <p:cNvPr id="10" name="Text 7"/>
          <p:cNvSpPr/>
          <p:nvPr/>
        </p:nvSpPr>
        <p:spPr>
          <a:xfrm>
            <a:off x="6400800" y="3200400"/>
            <a:ext cx="2468880" cy="347472"/>
          </a:xfrm>
          <a:prstGeom prst="rect">
            <a:avLst/>
          </a:prstGeom>
          <a:noFill/>
          <a:ln/>
        </p:spPr>
        <p:txBody>
          <a:bodyPr wrap="square" rtlCol="0" anchor="ctr"/>
          <a:lstStyle/>
          <a:p>
            <a:pPr marL="342900" indent="-342900">
              <a:buSzPct val="100000"/>
              <a:buChar char="•"/>
            </a:pPr>
            <a:r>
              <a:rPr lang="en-US" sz="1100" dirty="0">
                <a:solidFill>
                  <a:srgbClr val="1A1A2E"/>
                </a:solidFill>
                <a:latin typeface="Calibri" pitchFamily="34" charset="0"/>
                <a:ea typeface="Calibri" pitchFamily="34" charset="-122"/>
                <a:cs typeface="Calibri" pitchFamily="34" charset="-120"/>
              </a:rPr>
              <a:t>Margin above 65%</a:t>
            </a:r>
            <a:endParaRPr lang="en-US" sz="1100" dirty="0"/>
          </a:p>
        </p:txBody>
      </p:sp>
      <p:sp>
        <p:nvSpPr>
          <p:cNvPr id="11" name="Text 8"/>
          <p:cNvSpPr/>
          <p:nvPr/>
        </p:nvSpPr>
        <p:spPr>
          <a:xfrm>
            <a:off x="6400800" y="3566160"/>
            <a:ext cx="2468880" cy="347472"/>
          </a:xfrm>
          <a:prstGeom prst="rect">
            <a:avLst/>
          </a:prstGeom>
          <a:noFill/>
          <a:ln/>
        </p:spPr>
        <p:txBody>
          <a:bodyPr wrap="square" rtlCol="0" anchor="ctr"/>
          <a:lstStyle/>
          <a:p>
            <a:pPr marL="342900" indent="-342900">
              <a:buSzPct val="100000"/>
              <a:buChar char="•"/>
            </a:pPr>
            <a:r>
              <a:rPr lang="en-US" sz="1100" dirty="0">
                <a:solidFill>
                  <a:srgbClr val="1A1A2E"/>
                </a:solidFill>
                <a:latin typeface="Calibri" pitchFamily="34" charset="0"/>
                <a:ea typeface="Calibri" pitchFamily="34" charset="-122"/>
                <a:cs typeface="Calibri" pitchFamily="34" charset="-120"/>
              </a:rPr>
              <a:t>High profit, low visibility</a:t>
            </a:r>
            <a:endParaRPr lang="en-US" sz="1100" dirty="0"/>
          </a:p>
        </p:txBody>
      </p:sp>
      <p:sp>
        <p:nvSpPr>
          <p:cNvPr id="12" name="Text 9"/>
          <p:cNvSpPr/>
          <p:nvPr/>
        </p:nvSpPr>
        <p:spPr>
          <a:xfrm>
            <a:off x="6400800" y="4114800"/>
            <a:ext cx="2468880" cy="731520"/>
          </a:xfrm>
          <a:prstGeom prst="rect">
            <a:avLst/>
          </a:prstGeom>
          <a:noFill/>
          <a:ln/>
        </p:spPr>
        <p:txBody>
          <a:bodyPr wrap="square" rtlCol="0" anchor="ctr"/>
          <a:lstStyle/>
          <a:p>
            <a:pPr marL="0" indent="0">
              <a:buNone/>
            </a:pPr>
            <a:r>
              <a:rPr lang="en-US" sz="1100" i="1" dirty="0">
                <a:solidFill>
                  <a:srgbClr val="2E75B6"/>
                </a:solidFill>
                <a:latin typeface="Calibri" pitchFamily="34" charset="0"/>
                <a:ea typeface="Calibri" pitchFamily="34" charset="-122"/>
                <a:cs typeface="Calibri" pitchFamily="34" charset="-120"/>
              </a:rPr>
              <a:t>Action: Run promotions, reduce pricing, offer bundle deals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2E75B6"/>
          </a:solidFill>
          <a:ln w="12700">
            <a:solidFill>
              <a:srgbClr val="2E75B6"/>
            </a:solidFill>
            <a:prstDash val="solid"/>
          </a:ln>
        </p:spPr>
      </p:sp>
      <p:sp>
        <p:nvSpPr>
          <p:cNvPr id="3" name="Text 1"/>
          <p:cNvSpPr/>
          <p:nvPr/>
        </p:nvSpPr>
        <p:spPr>
          <a:xfrm>
            <a:off x="365760" y="137160"/>
            <a:ext cx="8412480" cy="64008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RQ2: Top Vendors &amp; Brands by Sales</a:t>
            </a:r>
            <a:endParaRPr lang="en-US" sz="2400" dirty="0"/>
          </a:p>
        </p:txBody>
      </p:sp>
      <p:pic>
        <p:nvPicPr>
          <p:cNvPr id="4" name="Image 0" descr="/mnt/user-data/uploads/rq2_top_vendors_brands.png"/>
          <p:cNvPicPr>
            <a:picLocks noChangeAspect="1"/>
          </p:cNvPicPr>
          <p:nvPr/>
        </p:nvPicPr>
        <p:blipFill>
          <a:blip r:embed="rId3"/>
          <a:stretch>
            <a:fillRect/>
          </a:stretch>
        </p:blipFill>
        <p:spPr>
          <a:xfrm>
            <a:off x="182880" y="960120"/>
            <a:ext cx="8778240" cy="39776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2E75B6"/>
          </a:solidFill>
          <a:ln w="12700">
            <a:solidFill>
              <a:srgbClr val="2E75B6"/>
            </a:solidFill>
            <a:prstDash val="solid"/>
          </a:ln>
        </p:spPr>
      </p:sp>
      <p:sp>
        <p:nvSpPr>
          <p:cNvPr id="3" name="Text 1"/>
          <p:cNvSpPr/>
          <p:nvPr/>
        </p:nvSpPr>
        <p:spPr>
          <a:xfrm>
            <a:off x="365760" y="137160"/>
            <a:ext cx="8412480" cy="64008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RQ3: Vendor Purchase Contribution</a:t>
            </a:r>
            <a:endParaRPr lang="en-US" sz="2400" dirty="0"/>
          </a:p>
        </p:txBody>
      </p:sp>
      <p:pic>
        <p:nvPicPr>
          <p:cNvPr id="4" name="Image 0" descr="/mnt/user-data/uploads/rq3_purchase_contribution.png"/>
          <p:cNvPicPr>
            <a:picLocks noChangeAspect="1"/>
          </p:cNvPicPr>
          <p:nvPr/>
        </p:nvPicPr>
        <p:blipFill>
          <a:blip r:embed="rId3"/>
          <a:stretch>
            <a:fillRect/>
          </a:stretch>
        </p:blipFill>
        <p:spPr>
          <a:xfrm>
            <a:off x="274320" y="1005840"/>
            <a:ext cx="5943600" cy="3931920"/>
          </a:xfrm>
          <a:prstGeom prst="rect">
            <a:avLst/>
          </a:prstGeom>
        </p:spPr>
      </p:pic>
      <p:sp>
        <p:nvSpPr>
          <p:cNvPr id="5" name="Shape 2"/>
          <p:cNvSpPr/>
          <p:nvPr/>
        </p:nvSpPr>
        <p:spPr>
          <a:xfrm>
            <a:off x="6446520" y="1005840"/>
            <a:ext cx="2423160" cy="1234440"/>
          </a:xfrm>
          <a:prstGeom prst="rect">
            <a:avLst/>
          </a:prstGeom>
          <a:solidFill>
            <a:srgbClr val="1F4E79"/>
          </a:solidFill>
          <a:ln w="12700">
            <a:solidFill>
              <a:srgbClr val="1F4E79"/>
            </a:solidFill>
            <a:prstDash val="solid"/>
          </a:ln>
        </p:spPr>
      </p:sp>
      <p:sp>
        <p:nvSpPr>
          <p:cNvPr id="6" name="Text 3"/>
          <p:cNvSpPr/>
          <p:nvPr/>
        </p:nvSpPr>
        <p:spPr>
          <a:xfrm>
            <a:off x="6446520" y="1051560"/>
            <a:ext cx="2423160" cy="685800"/>
          </a:xfrm>
          <a:prstGeom prst="rect">
            <a:avLst/>
          </a:prstGeom>
          <a:noFill/>
          <a:ln/>
        </p:spPr>
        <p:txBody>
          <a:bodyPr wrap="square" rtlCol="0" anchor="ctr"/>
          <a:lstStyle/>
          <a:p>
            <a:pPr marL="0" indent="0" algn="ctr">
              <a:buNone/>
            </a:pPr>
            <a:r>
              <a:rPr lang="en-US" sz="3600" b="1" dirty="0">
                <a:solidFill>
                  <a:srgbClr val="E8A020"/>
                </a:solidFill>
                <a:latin typeface="Calibri" pitchFamily="34" charset="0"/>
                <a:ea typeface="Calibri" pitchFamily="34" charset="-122"/>
                <a:cs typeface="Calibri" pitchFamily="34" charset="-120"/>
              </a:rPr>
              <a:t>64.72%</a:t>
            </a:r>
            <a:endParaRPr lang="en-US" sz="3600" dirty="0"/>
          </a:p>
        </p:txBody>
      </p:sp>
      <p:sp>
        <p:nvSpPr>
          <p:cNvPr id="7" name="Text 4"/>
          <p:cNvSpPr/>
          <p:nvPr/>
        </p:nvSpPr>
        <p:spPr>
          <a:xfrm>
            <a:off x="6446520" y="1737360"/>
            <a:ext cx="2423160" cy="365760"/>
          </a:xfrm>
          <a:prstGeom prst="rect">
            <a:avLst/>
          </a:prstGeom>
          <a:noFill/>
          <a:ln/>
        </p:spPr>
        <p:txBody>
          <a:bodyPr wrap="square"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by Top 10 Vendors</a:t>
            </a:r>
            <a:endParaRPr lang="en-US" sz="1200" dirty="0"/>
          </a:p>
        </p:txBody>
      </p:sp>
      <p:sp>
        <p:nvSpPr>
          <p:cNvPr id="8" name="Text 5"/>
          <p:cNvSpPr/>
          <p:nvPr/>
        </p:nvSpPr>
        <p:spPr>
          <a:xfrm>
            <a:off x="6446520" y="2377440"/>
            <a:ext cx="2423160" cy="1280160"/>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Risk: High vendor concentration. Top vendor (DIAGEO) alone accounts for 16.06% of all purchases.</a:t>
            </a:r>
            <a:endParaRPr lang="en-US" sz="1100" dirty="0"/>
          </a:p>
        </p:txBody>
      </p:sp>
      <p:sp>
        <p:nvSpPr>
          <p:cNvPr id="9" name="Text 6"/>
          <p:cNvSpPr/>
          <p:nvPr/>
        </p:nvSpPr>
        <p:spPr>
          <a:xfrm>
            <a:off x="6446520" y="3794760"/>
            <a:ext cx="2423160" cy="822960"/>
          </a:xfrm>
          <a:prstGeom prst="rect">
            <a:avLst/>
          </a:prstGeom>
          <a:noFill/>
          <a:ln/>
        </p:spPr>
        <p:txBody>
          <a:bodyPr wrap="square" rtlCol="0" anchor="ctr"/>
          <a:lstStyle/>
          <a:p>
            <a:pPr marL="0" indent="0">
              <a:buNone/>
            </a:pPr>
            <a:r>
              <a:rPr lang="en-US" sz="1100" i="1" dirty="0">
                <a:solidFill>
                  <a:srgbClr val="2E75B6"/>
                </a:solidFill>
                <a:latin typeface="Calibri" pitchFamily="34" charset="0"/>
                <a:ea typeface="Calibri" pitchFamily="34" charset="-122"/>
                <a:cs typeface="Calibri" pitchFamily="34" charset="-120"/>
              </a:rPr>
              <a:t>Action: Diversify vendor partnerships to reduce supply chain risk.</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2E75B6"/>
          </a:solidFill>
          <a:ln w="12700">
            <a:solidFill>
              <a:srgbClr val="2E75B6"/>
            </a:solidFill>
            <a:prstDash val="solid"/>
          </a:ln>
        </p:spPr>
      </p:sp>
      <p:sp>
        <p:nvSpPr>
          <p:cNvPr id="3" name="Text 1"/>
          <p:cNvSpPr/>
          <p:nvPr/>
        </p:nvSpPr>
        <p:spPr>
          <a:xfrm>
            <a:off x="365760" y="137160"/>
            <a:ext cx="8412480" cy="640080"/>
          </a:xfrm>
          <a:prstGeom prst="rect">
            <a:avLst/>
          </a:prstGeom>
          <a:noFill/>
          <a:ln/>
        </p:spPr>
        <p:txBody>
          <a:bodyPr wrap="square" rtlCol="0" anchor="ctr"/>
          <a:lstStyle/>
          <a:p>
            <a:pPr marL="0" indent="0">
              <a:buNone/>
            </a:pPr>
            <a:r>
              <a:rPr lang="en-US" sz="2300" b="1" dirty="0">
                <a:solidFill>
                  <a:srgbClr val="FFFFFF"/>
                </a:solidFill>
                <a:latin typeface="Calibri" pitchFamily="34" charset="0"/>
                <a:ea typeface="Calibri" pitchFamily="34" charset="-122"/>
                <a:cs typeface="Calibri" pitchFamily="34" charset="-120"/>
              </a:rPr>
              <a:t>RQ4: Impact of Bulk Purchasing on Unit Cost</a:t>
            </a:r>
            <a:endParaRPr lang="en-US" sz="2300" dirty="0"/>
          </a:p>
        </p:txBody>
      </p:sp>
      <p:pic>
        <p:nvPicPr>
          <p:cNvPr id="4" name="Image 0" descr="/mnt/user-data/uploads/rq4_bulk_purchasing.png"/>
          <p:cNvPicPr>
            <a:picLocks noChangeAspect="1"/>
          </p:cNvPicPr>
          <p:nvPr/>
        </p:nvPicPr>
        <p:blipFill>
          <a:blip r:embed="rId3"/>
          <a:stretch>
            <a:fillRect/>
          </a:stretch>
        </p:blipFill>
        <p:spPr>
          <a:xfrm>
            <a:off x="274320" y="1005840"/>
            <a:ext cx="5943600" cy="3931920"/>
          </a:xfrm>
          <a:prstGeom prst="rect">
            <a:avLst/>
          </a:prstGeom>
        </p:spPr>
      </p:pic>
      <p:sp>
        <p:nvSpPr>
          <p:cNvPr id="5" name="Shape 2"/>
          <p:cNvSpPr/>
          <p:nvPr/>
        </p:nvSpPr>
        <p:spPr>
          <a:xfrm>
            <a:off x="6446520" y="1005840"/>
            <a:ext cx="2423160" cy="777240"/>
          </a:xfrm>
          <a:prstGeom prst="rect">
            <a:avLst/>
          </a:prstGeom>
          <a:solidFill>
            <a:srgbClr val="E05C5C"/>
          </a:solidFill>
          <a:ln w="12700">
            <a:solidFill>
              <a:srgbClr val="E05C5C"/>
            </a:solidFill>
            <a:prstDash val="solid"/>
          </a:ln>
        </p:spPr>
      </p:sp>
      <p:sp>
        <p:nvSpPr>
          <p:cNvPr id="6" name="Text 3"/>
          <p:cNvSpPr/>
          <p:nvPr/>
        </p:nvSpPr>
        <p:spPr>
          <a:xfrm>
            <a:off x="6446520" y="1005840"/>
            <a:ext cx="1005840" cy="77724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Small</a:t>
            </a:r>
            <a:endParaRPr lang="en-US" sz="1300" dirty="0"/>
          </a:p>
        </p:txBody>
      </p:sp>
      <p:sp>
        <p:nvSpPr>
          <p:cNvPr id="7" name="Text 4"/>
          <p:cNvSpPr/>
          <p:nvPr/>
        </p:nvSpPr>
        <p:spPr>
          <a:xfrm>
            <a:off x="7452360" y="1005840"/>
            <a:ext cx="1417320" cy="77724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$41.38</a:t>
            </a:r>
            <a:endParaRPr lang="en-US" sz="2000" dirty="0"/>
          </a:p>
        </p:txBody>
      </p:sp>
      <p:sp>
        <p:nvSpPr>
          <p:cNvPr id="8" name="Shape 5"/>
          <p:cNvSpPr/>
          <p:nvPr/>
        </p:nvSpPr>
        <p:spPr>
          <a:xfrm>
            <a:off x="6446520" y="1920240"/>
            <a:ext cx="2423160" cy="777240"/>
          </a:xfrm>
          <a:prstGeom prst="rect">
            <a:avLst/>
          </a:prstGeom>
          <a:solidFill>
            <a:srgbClr val="E8A020"/>
          </a:solidFill>
          <a:ln w="12700">
            <a:solidFill>
              <a:srgbClr val="E8A020"/>
            </a:solidFill>
            <a:prstDash val="solid"/>
          </a:ln>
        </p:spPr>
      </p:sp>
      <p:sp>
        <p:nvSpPr>
          <p:cNvPr id="9" name="Text 6"/>
          <p:cNvSpPr/>
          <p:nvPr/>
        </p:nvSpPr>
        <p:spPr>
          <a:xfrm>
            <a:off x="6446520" y="1920240"/>
            <a:ext cx="1005840" cy="77724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Medium</a:t>
            </a:r>
            <a:endParaRPr lang="en-US" sz="1300" dirty="0"/>
          </a:p>
        </p:txBody>
      </p:sp>
      <p:sp>
        <p:nvSpPr>
          <p:cNvPr id="10" name="Text 7"/>
          <p:cNvSpPr/>
          <p:nvPr/>
        </p:nvSpPr>
        <p:spPr>
          <a:xfrm>
            <a:off x="7452360" y="1920240"/>
            <a:ext cx="1417320" cy="77724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$15.42</a:t>
            </a:r>
            <a:endParaRPr lang="en-US" sz="2000" dirty="0"/>
          </a:p>
        </p:txBody>
      </p:sp>
      <p:sp>
        <p:nvSpPr>
          <p:cNvPr id="11" name="Shape 8"/>
          <p:cNvSpPr/>
          <p:nvPr/>
        </p:nvSpPr>
        <p:spPr>
          <a:xfrm>
            <a:off x="6446520" y="2834640"/>
            <a:ext cx="2423160" cy="777240"/>
          </a:xfrm>
          <a:prstGeom prst="rect">
            <a:avLst/>
          </a:prstGeom>
          <a:solidFill>
            <a:srgbClr val="2E75B6"/>
          </a:solidFill>
          <a:ln w="12700">
            <a:solidFill>
              <a:srgbClr val="2E75B6"/>
            </a:solidFill>
            <a:prstDash val="solid"/>
          </a:ln>
        </p:spPr>
      </p:sp>
      <p:sp>
        <p:nvSpPr>
          <p:cNvPr id="12" name="Text 9"/>
          <p:cNvSpPr/>
          <p:nvPr/>
        </p:nvSpPr>
        <p:spPr>
          <a:xfrm>
            <a:off x="6446520" y="2834640"/>
            <a:ext cx="1005840" cy="77724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Large</a:t>
            </a:r>
            <a:endParaRPr lang="en-US" sz="1300" dirty="0"/>
          </a:p>
        </p:txBody>
      </p:sp>
      <p:sp>
        <p:nvSpPr>
          <p:cNvPr id="13" name="Text 10"/>
          <p:cNvSpPr/>
          <p:nvPr/>
        </p:nvSpPr>
        <p:spPr>
          <a:xfrm>
            <a:off x="7452360" y="2834640"/>
            <a:ext cx="1417320" cy="77724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$10.74</a:t>
            </a:r>
            <a:endParaRPr lang="en-US" sz="2000" dirty="0"/>
          </a:p>
        </p:txBody>
      </p:sp>
      <p:sp>
        <p:nvSpPr>
          <p:cNvPr id="14" name="Shape 11"/>
          <p:cNvSpPr/>
          <p:nvPr/>
        </p:nvSpPr>
        <p:spPr>
          <a:xfrm>
            <a:off x="6446520" y="3840480"/>
            <a:ext cx="2423160" cy="1005840"/>
          </a:xfrm>
          <a:prstGeom prst="rect">
            <a:avLst/>
          </a:prstGeom>
          <a:solidFill>
            <a:srgbClr val="F4F8FC"/>
          </a:solidFill>
          <a:ln w="12700">
            <a:solidFill>
              <a:srgbClr val="BDD7EE"/>
            </a:solidFill>
            <a:prstDash val="solid"/>
          </a:ln>
        </p:spPr>
      </p:sp>
      <p:sp>
        <p:nvSpPr>
          <p:cNvPr id="15" name="Text 12"/>
          <p:cNvSpPr/>
          <p:nvPr/>
        </p:nvSpPr>
        <p:spPr>
          <a:xfrm>
            <a:off x="6492240" y="3886200"/>
            <a:ext cx="2331720" cy="914400"/>
          </a:xfrm>
          <a:prstGeom prst="rect">
            <a:avLst/>
          </a:prstGeom>
          <a:noFill/>
          <a:ln/>
        </p:spPr>
        <p:txBody>
          <a:bodyPr wrap="square" rtlCol="0" anchor="ctr"/>
          <a:lstStyle/>
          <a:p>
            <a:pPr marL="0" indent="0">
              <a:buNone/>
            </a:pPr>
            <a:r>
              <a:rPr lang="en-US" sz="1200" b="1" dirty="0">
                <a:solidFill>
                  <a:srgbClr val="1F4E79"/>
                </a:solidFill>
                <a:latin typeface="Calibri" pitchFamily="34" charset="0"/>
                <a:ea typeface="Calibri" pitchFamily="34" charset="-122"/>
                <a:cs typeface="Calibri" pitchFamily="34" charset="-120"/>
              </a:rPr>
              <a:t>74% cost reduction from small to large orders — bulk pricing strategy works!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2E75B6"/>
          </a:solidFill>
          <a:ln w="12700">
            <a:solidFill>
              <a:srgbClr val="2E75B6"/>
            </a:solidFill>
            <a:prstDash val="solid"/>
          </a:ln>
        </p:spPr>
      </p:sp>
      <p:sp>
        <p:nvSpPr>
          <p:cNvPr id="3" name="Text 1"/>
          <p:cNvSpPr/>
          <p:nvPr/>
        </p:nvSpPr>
        <p:spPr>
          <a:xfrm>
            <a:off x="365760" y="137160"/>
            <a:ext cx="8412480" cy="640080"/>
          </a:xfrm>
          <a:prstGeom prst="rect">
            <a:avLst/>
          </a:prstGeom>
          <a:noFill/>
          <a:ln/>
        </p:spPr>
        <p:txBody>
          <a:bodyPr wrap="square" rtlCol="0" anchor="ctr"/>
          <a:lstStyle/>
          <a:p>
            <a:pPr marL="0" indent="0">
              <a:buNone/>
            </a:pPr>
            <a:r>
              <a:rPr lang="en-US" sz="2300" b="1" dirty="0">
                <a:solidFill>
                  <a:srgbClr val="FFFFFF"/>
                </a:solidFill>
                <a:latin typeface="Calibri" pitchFamily="34" charset="0"/>
                <a:ea typeface="Calibri" pitchFamily="34" charset="-122"/>
                <a:cs typeface="Calibri" pitchFamily="34" charset="-120"/>
              </a:rPr>
              <a:t>RQ5: Vendors with Low Inventory Turnover</a:t>
            </a:r>
            <a:endParaRPr lang="en-US" sz="2300" dirty="0"/>
          </a:p>
        </p:txBody>
      </p:sp>
      <p:pic>
        <p:nvPicPr>
          <p:cNvPr id="4" name="Image 0" descr="/mnt/user-data/uploads/rq5_low_turnover.png"/>
          <p:cNvPicPr>
            <a:picLocks noChangeAspect="1"/>
          </p:cNvPicPr>
          <p:nvPr/>
        </p:nvPicPr>
        <p:blipFill>
          <a:blip r:embed="rId3"/>
          <a:stretch>
            <a:fillRect/>
          </a:stretch>
        </p:blipFill>
        <p:spPr>
          <a:xfrm>
            <a:off x="274320" y="1005840"/>
            <a:ext cx="5943600" cy="3931920"/>
          </a:xfrm>
          <a:prstGeom prst="rect">
            <a:avLst/>
          </a:prstGeom>
        </p:spPr>
      </p:pic>
      <p:sp>
        <p:nvSpPr>
          <p:cNvPr id="5" name="Shape 2"/>
          <p:cNvSpPr/>
          <p:nvPr/>
        </p:nvSpPr>
        <p:spPr>
          <a:xfrm>
            <a:off x="6446520" y="1005840"/>
            <a:ext cx="2423160" cy="1234440"/>
          </a:xfrm>
          <a:prstGeom prst="rect">
            <a:avLst/>
          </a:prstGeom>
          <a:solidFill>
            <a:srgbClr val="E05C5C"/>
          </a:solidFill>
          <a:ln w="12700">
            <a:solidFill>
              <a:srgbClr val="E05C5C"/>
            </a:solidFill>
            <a:prstDash val="solid"/>
          </a:ln>
        </p:spPr>
      </p:sp>
      <p:sp>
        <p:nvSpPr>
          <p:cNvPr id="6" name="Text 3"/>
          <p:cNvSpPr/>
          <p:nvPr/>
        </p:nvSpPr>
        <p:spPr>
          <a:xfrm>
            <a:off x="6446520" y="1051560"/>
            <a:ext cx="2423160" cy="658368"/>
          </a:xfrm>
          <a:prstGeom prst="rect">
            <a:avLst/>
          </a:prstGeom>
          <a:noFill/>
          <a:ln/>
        </p:spPr>
        <p:txBody>
          <a:bodyPr wrap="square" rtlCol="0" anchor="ctr"/>
          <a:lstStyle/>
          <a:p>
            <a:pPr marL="0" indent="0" algn="ctr">
              <a:buNone/>
            </a:pPr>
            <a:r>
              <a:rPr lang="en-US" sz="3600" b="1" dirty="0">
                <a:solidFill>
                  <a:srgbClr val="FFFFFF"/>
                </a:solidFill>
                <a:latin typeface="Calibri" pitchFamily="34" charset="0"/>
                <a:ea typeface="Calibri" pitchFamily="34" charset="-122"/>
                <a:cs typeface="Calibri" pitchFamily="34" charset="-120"/>
              </a:rPr>
              <a:t>0.615</a:t>
            </a:r>
            <a:endParaRPr lang="en-US" sz="3600" dirty="0"/>
          </a:p>
        </p:txBody>
      </p:sp>
      <p:sp>
        <p:nvSpPr>
          <p:cNvPr id="7" name="Text 4"/>
          <p:cNvSpPr/>
          <p:nvPr/>
        </p:nvSpPr>
        <p:spPr>
          <a:xfrm>
            <a:off x="6446520" y="1709928"/>
            <a:ext cx="2423160" cy="365760"/>
          </a:xfrm>
          <a:prstGeom prst="rect">
            <a:avLst/>
          </a:prstGeom>
          <a:noFill/>
          <a:ln/>
        </p:spPr>
        <p:txBody>
          <a:bodyPr wrap="square"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Lowest Turnover</a:t>
            </a:r>
            <a:endParaRPr lang="en-US" sz="1200" dirty="0"/>
          </a:p>
        </p:txBody>
      </p:sp>
      <p:sp>
        <p:nvSpPr>
          <p:cNvPr id="8" name="Text 5"/>
          <p:cNvSpPr/>
          <p:nvPr/>
        </p:nvSpPr>
        <p:spPr>
          <a:xfrm>
            <a:off x="6446520" y="2377440"/>
            <a:ext cx="2423160" cy="347472"/>
          </a:xfrm>
          <a:prstGeom prst="rect">
            <a:avLst/>
          </a:prstGeom>
          <a:noFill/>
          <a:ln/>
        </p:spPr>
        <p:txBody>
          <a:bodyPr wrap="square" rtlCol="0" anchor="ctr"/>
          <a:lstStyle/>
          <a:p>
            <a:pPr marL="0" indent="0">
              <a:buNone/>
            </a:pPr>
            <a:r>
              <a:rPr lang="en-US" sz="1300" b="1" dirty="0">
                <a:solidFill>
                  <a:srgbClr val="1F4E79"/>
                </a:solidFill>
                <a:latin typeface="Calibri" pitchFamily="34" charset="0"/>
                <a:ea typeface="Calibri" pitchFamily="34" charset="-122"/>
                <a:cs typeface="Calibri" pitchFamily="34" charset="-120"/>
              </a:rPr>
              <a:t>Actions Required</a:t>
            </a:r>
            <a:endParaRPr lang="en-US" sz="1300" dirty="0"/>
          </a:p>
        </p:txBody>
      </p:sp>
      <p:sp>
        <p:nvSpPr>
          <p:cNvPr id="9" name="Text 6"/>
          <p:cNvSpPr/>
          <p:nvPr/>
        </p:nvSpPr>
        <p:spPr>
          <a:xfrm>
            <a:off x="6446520" y="2788920"/>
            <a:ext cx="2423160" cy="365760"/>
          </a:xfrm>
          <a:prstGeom prst="rect">
            <a:avLst/>
          </a:prstGeom>
          <a:noFill/>
          <a:ln/>
        </p:spPr>
        <p:txBody>
          <a:bodyPr wrap="square" rtlCol="0" anchor="ctr"/>
          <a:lstStyle/>
          <a:p>
            <a:pPr marL="342900" indent="-342900">
              <a:buSzPct val="100000"/>
              <a:buChar char="•"/>
            </a:pPr>
            <a:r>
              <a:rPr lang="en-US" sz="1100" dirty="0">
                <a:solidFill>
                  <a:srgbClr val="1A1A2E"/>
                </a:solidFill>
                <a:latin typeface="Calibri" pitchFamily="34" charset="0"/>
                <a:ea typeface="Calibri" pitchFamily="34" charset="-122"/>
                <a:cs typeface="Calibri" pitchFamily="34" charset="-120"/>
              </a:rPr>
              <a:t>Reduce purchase quantities</a:t>
            </a:r>
            <a:endParaRPr lang="en-US" sz="1100" dirty="0"/>
          </a:p>
        </p:txBody>
      </p:sp>
      <p:sp>
        <p:nvSpPr>
          <p:cNvPr id="10" name="Text 7"/>
          <p:cNvSpPr/>
          <p:nvPr/>
        </p:nvSpPr>
        <p:spPr>
          <a:xfrm>
            <a:off x="6446520" y="3172968"/>
            <a:ext cx="2423160" cy="365760"/>
          </a:xfrm>
          <a:prstGeom prst="rect">
            <a:avLst/>
          </a:prstGeom>
          <a:noFill/>
          <a:ln/>
        </p:spPr>
        <p:txBody>
          <a:bodyPr wrap="square" rtlCol="0" anchor="ctr"/>
          <a:lstStyle/>
          <a:p>
            <a:pPr marL="342900" indent="-342900">
              <a:buSzPct val="100000"/>
              <a:buChar char="•"/>
            </a:pPr>
            <a:r>
              <a:rPr lang="en-US" sz="1100" dirty="0">
                <a:solidFill>
                  <a:srgbClr val="1A1A2E"/>
                </a:solidFill>
                <a:latin typeface="Calibri" pitchFamily="34" charset="0"/>
                <a:ea typeface="Calibri" pitchFamily="34" charset="-122"/>
                <a:cs typeface="Calibri" pitchFamily="34" charset="-120"/>
              </a:rPr>
              <a:t>Launch clearance sales</a:t>
            </a:r>
            <a:endParaRPr lang="en-US" sz="1100" dirty="0"/>
          </a:p>
        </p:txBody>
      </p:sp>
      <p:sp>
        <p:nvSpPr>
          <p:cNvPr id="11" name="Text 8"/>
          <p:cNvSpPr/>
          <p:nvPr/>
        </p:nvSpPr>
        <p:spPr>
          <a:xfrm>
            <a:off x="6446520" y="3557016"/>
            <a:ext cx="2423160" cy="365760"/>
          </a:xfrm>
          <a:prstGeom prst="rect">
            <a:avLst/>
          </a:prstGeom>
          <a:noFill/>
          <a:ln/>
        </p:spPr>
        <p:txBody>
          <a:bodyPr wrap="square" rtlCol="0" anchor="ctr"/>
          <a:lstStyle/>
          <a:p>
            <a:pPr marL="342900" indent="-342900">
              <a:buSzPct val="100000"/>
              <a:buChar char="•"/>
            </a:pPr>
            <a:r>
              <a:rPr lang="en-US" sz="1100" dirty="0">
                <a:solidFill>
                  <a:srgbClr val="1A1A2E"/>
                </a:solidFill>
                <a:latin typeface="Calibri" pitchFamily="34" charset="0"/>
                <a:ea typeface="Calibri" pitchFamily="34" charset="-122"/>
                <a:cs typeface="Calibri" pitchFamily="34" charset="-120"/>
              </a:rPr>
              <a:t>Revise ordering strategy</a:t>
            </a:r>
            <a:endParaRPr lang="en-US" sz="1100" dirty="0"/>
          </a:p>
        </p:txBody>
      </p:sp>
      <p:sp>
        <p:nvSpPr>
          <p:cNvPr id="12" name="Text 9"/>
          <p:cNvSpPr/>
          <p:nvPr/>
        </p:nvSpPr>
        <p:spPr>
          <a:xfrm>
            <a:off x="6446520" y="3941064"/>
            <a:ext cx="2423160" cy="365760"/>
          </a:xfrm>
          <a:prstGeom prst="rect">
            <a:avLst/>
          </a:prstGeom>
          <a:noFill/>
          <a:ln/>
        </p:spPr>
        <p:txBody>
          <a:bodyPr wrap="square" rtlCol="0" anchor="ctr"/>
          <a:lstStyle/>
          <a:p>
            <a:pPr marL="342900" indent="-342900">
              <a:buSzPct val="100000"/>
              <a:buChar char="•"/>
            </a:pPr>
            <a:r>
              <a:rPr lang="en-US" sz="1100" dirty="0">
                <a:solidFill>
                  <a:srgbClr val="1A1A2E"/>
                </a:solidFill>
                <a:latin typeface="Calibri" pitchFamily="34" charset="0"/>
                <a:ea typeface="Calibri" pitchFamily="34" charset="-122"/>
                <a:cs typeface="Calibri" pitchFamily="34" charset="-120"/>
              </a:rPr>
              <a:t>Target = 1.0 or above</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2E75B6"/>
          </a:solidFill>
          <a:ln w="12700">
            <a:solidFill>
              <a:srgbClr val="2E75B6"/>
            </a:solidFill>
            <a:prstDash val="solid"/>
          </a:ln>
        </p:spPr>
      </p:sp>
      <p:sp>
        <p:nvSpPr>
          <p:cNvPr id="3" name="Text 1"/>
          <p:cNvSpPr/>
          <p:nvPr/>
        </p:nvSpPr>
        <p:spPr>
          <a:xfrm>
            <a:off x="365760" y="137160"/>
            <a:ext cx="8412480" cy="640080"/>
          </a:xfrm>
          <a:prstGeom prst="rect">
            <a:avLst/>
          </a:prstGeom>
          <a:noFill/>
          <a:ln/>
        </p:spPr>
        <p:txBody>
          <a:bodyPr wrap="square" rtlCol="0" anchor="ctr"/>
          <a:lstStyle/>
          <a:p>
            <a:pPr marL="0" indent="0">
              <a:buNone/>
            </a:pPr>
            <a:r>
              <a:rPr lang="en-US" sz="2300" b="1" dirty="0">
                <a:solidFill>
                  <a:srgbClr val="FFFFFF"/>
                </a:solidFill>
                <a:latin typeface="Calibri" pitchFamily="34" charset="0"/>
                <a:ea typeface="Calibri" pitchFamily="34" charset="-122"/>
                <a:cs typeface="Calibri" pitchFamily="34" charset="-120"/>
              </a:rPr>
              <a:t>RQ6: Capital Locked in Unsold Inventory</a:t>
            </a:r>
            <a:endParaRPr lang="en-US" sz="2300" dirty="0"/>
          </a:p>
        </p:txBody>
      </p:sp>
      <p:pic>
        <p:nvPicPr>
          <p:cNvPr id="4" name="Image 0" descr="/mnt/user-data/uploads/rq6_unsold_inventory.png"/>
          <p:cNvPicPr>
            <a:picLocks noChangeAspect="1"/>
          </p:cNvPicPr>
          <p:nvPr/>
        </p:nvPicPr>
        <p:blipFill>
          <a:blip r:embed="rId3"/>
          <a:stretch>
            <a:fillRect/>
          </a:stretch>
        </p:blipFill>
        <p:spPr>
          <a:xfrm>
            <a:off x="274320" y="1005840"/>
            <a:ext cx="5943600" cy="3931920"/>
          </a:xfrm>
          <a:prstGeom prst="rect">
            <a:avLst/>
          </a:prstGeom>
        </p:spPr>
      </p:pic>
      <p:sp>
        <p:nvSpPr>
          <p:cNvPr id="5" name="Shape 2"/>
          <p:cNvSpPr/>
          <p:nvPr/>
        </p:nvSpPr>
        <p:spPr>
          <a:xfrm>
            <a:off x="6446520" y="1005840"/>
            <a:ext cx="2423160" cy="1234440"/>
          </a:xfrm>
          <a:prstGeom prst="rect">
            <a:avLst/>
          </a:prstGeom>
          <a:solidFill>
            <a:srgbClr val="1F4E79"/>
          </a:solidFill>
          <a:ln w="12700">
            <a:solidFill>
              <a:srgbClr val="1F4E79"/>
            </a:solidFill>
            <a:prstDash val="solid"/>
          </a:ln>
        </p:spPr>
      </p:sp>
      <p:sp>
        <p:nvSpPr>
          <p:cNvPr id="6" name="Text 3"/>
          <p:cNvSpPr/>
          <p:nvPr/>
        </p:nvSpPr>
        <p:spPr>
          <a:xfrm>
            <a:off x="6446520" y="1051560"/>
            <a:ext cx="2423160" cy="658368"/>
          </a:xfrm>
          <a:prstGeom prst="rect">
            <a:avLst/>
          </a:prstGeom>
          <a:noFill/>
          <a:ln/>
        </p:spPr>
        <p:txBody>
          <a:bodyPr wrap="square" rtlCol="0" anchor="ctr"/>
          <a:lstStyle/>
          <a:p>
            <a:pPr marL="0" indent="0" algn="ctr">
              <a:buNone/>
            </a:pPr>
            <a:r>
              <a:rPr lang="en-US" sz="3400" b="1" dirty="0">
                <a:solidFill>
                  <a:srgbClr val="E8A020"/>
                </a:solidFill>
                <a:latin typeface="Calibri" pitchFamily="34" charset="0"/>
                <a:ea typeface="Calibri" pitchFamily="34" charset="-122"/>
                <a:cs typeface="Calibri" pitchFamily="34" charset="-120"/>
              </a:rPr>
              <a:t>$3.66M</a:t>
            </a:r>
            <a:endParaRPr lang="en-US" sz="3400" dirty="0"/>
          </a:p>
        </p:txBody>
      </p:sp>
      <p:sp>
        <p:nvSpPr>
          <p:cNvPr id="7" name="Text 4"/>
          <p:cNvSpPr/>
          <p:nvPr/>
        </p:nvSpPr>
        <p:spPr>
          <a:xfrm>
            <a:off x="6446520" y="1709928"/>
            <a:ext cx="2423160" cy="365760"/>
          </a:xfrm>
          <a:prstGeom prst="rect">
            <a:avLst/>
          </a:prstGeom>
          <a:noFill/>
          <a:ln/>
        </p:spPr>
        <p:txBody>
          <a:bodyPr wrap="square"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Total Locked Capital</a:t>
            </a:r>
            <a:endParaRPr lang="en-US" sz="1200" dirty="0"/>
          </a:p>
        </p:txBody>
      </p:sp>
      <p:sp>
        <p:nvSpPr>
          <p:cNvPr id="8" name="Text 5"/>
          <p:cNvSpPr/>
          <p:nvPr/>
        </p:nvSpPr>
        <p:spPr>
          <a:xfrm>
            <a:off x="6446520" y="2377440"/>
            <a:ext cx="2423160" cy="347472"/>
          </a:xfrm>
          <a:prstGeom prst="rect">
            <a:avLst/>
          </a:prstGeom>
          <a:noFill/>
          <a:ln/>
        </p:spPr>
        <p:txBody>
          <a:bodyPr wrap="square" rtlCol="0" anchor="ctr"/>
          <a:lstStyle/>
          <a:p>
            <a:pPr marL="0" indent="0">
              <a:buNone/>
            </a:pPr>
            <a:r>
              <a:rPr lang="en-US" sz="1300" b="1" dirty="0">
                <a:solidFill>
                  <a:srgbClr val="1F4E79"/>
                </a:solidFill>
                <a:latin typeface="Calibri" pitchFamily="34" charset="0"/>
                <a:ea typeface="Calibri" pitchFamily="34" charset="-122"/>
                <a:cs typeface="Calibri" pitchFamily="34" charset="-120"/>
              </a:rPr>
              <a:t>Top 3 Contributors</a:t>
            </a:r>
            <a:endParaRPr lang="en-US" sz="1300" dirty="0"/>
          </a:p>
        </p:txBody>
      </p:sp>
      <p:sp>
        <p:nvSpPr>
          <p:cNvPr id="9" name="Shape 6"/>
          <p:cNvSpPr/>
          <p:nvPr/>
        </p:nvSpPr>
        <p:spPr>
          <a:xfrm>
            <a:off x="6446520" y="2788920"/>
            <a:ext cx="2423160" cy="411480"/>
          </a:xfrm>
          <a:prstGeom prst="rect">
            <a:avLst/>
          </a:prstGeom>
          <a:solidFill>
            <a:srgbClr val="F4F8FC"/>
          </a:solidFill>
          <a:ln w="12700">
            <a:solidFill>
              <a:srgbClr val="BDD7EE"/>
            </a:solidFill>
            <a:prstDash val="solid"/>
          </a:ln>
        </p:spPr>
      </p:sp>
      <p:sp>
        <p:nvSpPr>
          <p:cNvPr id="10" name="Text 7"/>
          <p:cNvSpPr/>
          <p:nvPr/>
        </p:nvSpPr>
        <p:spPr>
          <a:xfrm>
            <a:off x="6492240" y="2816352"/>
            <a:ext cx="1463040" cy="365760"/>
          </a:xfrm>
          <a:prstGeom prst="rect">
            <a:avLst/>
          </a:prstGeom>
          <a:noFill/>
          <a:ln/>
        </p:spPr>
        <p:txBody>
          <a:bodyPr wrap="square" lIns="0" tIns="0" rIns="0" bIns="0" rtlCol="0" anchor="ctr"/>
          <a:lstStyle/>
          <a:p>
            <a:pPr marL="0" indent="0">
              <a:buNone/>
            </a:pPr>
            <a:r>
              <a:rPr lang="en-US" sz="1000" dirty="0">
                <a:solidFill>
                  <a:srgbClr val="1A1A2E"/>
                </a:solidFill>
                <a:latin typeface="Calibri" pitchFamily="34" charset="0"/>
                <a:ea typeface="Calibri" pitchFamily="34" charset="-122"/>
                <a:cs typeface="Calibri" pitchFamily="34" charset="-120"/>
              </a:rPr>
              <a:t>DIAGEO</a:t>
            </a:r>
            <a:endParaRPr lang="en-US" sz="1000" dirty="0"/>
          </a:p>
        </p:txBody>
      </p:sp>
      <p:sp>
        <p:nvSpPr>
          <p:cNvPr id="11" name="Text 8"/>
          <p:cNvSpPr/>
          <p:nvPr/>
        </p:nvSpPr>
        <p:spPr>
          <a:xfrm>
            <a:off x="7955280" y="2816352"/>
            <a:ext cx="868680" cy="365760"/>
          </a:xfrm>
          <a:prstGeom prst="rect">
            <a:avLst/>
          </a:prstGeom>
          <a:noFill/>
          <a:ln/>
        </p:spPr>
        <p:txBody>
          <a:bodyPr wrap="square" lIns="0" tIns="0" rIns="0" bIns="0" rtlCol="0" anchor="ctr"/>
          <a:lstStyle/>
          <a:p>
            <a:pPr marL="0" indent="0">
              <a:buNone/>
            </a:pPr>
            <a:r>
              <a:rPr lang="en-US" sz="1100" b="1" dirty="0">
                <a:solidFill>
                  <a:srgbClr val="2E75B6"/>
                </a:solidFill>
                <a:latin typeface="Calibri" pitchFamily="34" charset="0"/>
                <a:ea typeface="Calibri" pitchFamily="34" charset="-122"/>
                <a:cs typeface="Calibri" pitchFamily="34" charset="-120"/>
              </a:rPr>
              <a:t>$984.2K</a:t>
            </a:r>
            <a:endParaRPr lang="en-US" sz="1100" dirty="0"/>
          </a:p>
        </p:txBody>
      </p:sp>
      <p:sp>
        <p:nvSpPr>
          <p:cNvPr id="12" name="Shape 9"/>
          <p:cNvSpPr/>
          <p:nvPr/>
        </p:nvSpPr>
        <p:spPr>
          <a:xfrm>
            <a:off x="6446520" y="3264408"/>
            <a:ext cx="2423160" cy="411480"/>
          </a:xfrm>
          <a:prstGeom prst="rect">
            <a:avLst/>
          </a:prstGeom>
          <a:solidFill>
            <a:srgbClr val="F4F8FC"/>
          </a:solidFill>
          <a:ln w="12700">
            <a:solidFill>
              <a:srgbClr val="BDD7EE"/>
            </a:solidFill>
            <a:prstDash val="solid"/>
          </a:ln>
        </p:spPr>
      </p:sp>
      <p:sp>
        <p:nvSpPr>
          <p:cNvPr id="13" name="Text 10"/>
          <p:cNvSpPr/>
          <p:nvPr/>
        </p:nvSpPr>
        <p:spPr>
          <a:xfrm>
            <a:off x="6492240" y="3291840"/>
            <a:ext cx="1463040" cy="365760"/>
          </a:xfrm>
          <a:prstGeom prst="rect">
            <a:avLst/>
          </a:prstGeom>
          <a:noFill/>
          <a:ln/>
        </p:spPr>
        <p:txBody>
          <a:bodyPr wrap="square" lIns="0" tIns="0" rIns="0" bIns="0" rtlCol="0" anchor="ctr"/>
          <a:lstStyle/>
          <a:p>
            <a:pPr marL="0" indent="0">
              <a:buNone/>
            </a:pPr>
            <a:r>
              <a:rPr lang="en-US" sz="1000" dirty="0">
                <a:solidFill>
                  <a:srgbClr val="1A1A2E"/>
                </a:solidFill>
                <a:latin typeface="Calibri" pitchFamily="34" charset="0"/>
                <a:ea typeface="Calibri" pitchFamily="34" charset="-122"/>
                <a:cs typeface="Calibri" pitchFamily="34" charset="-120"/>
              </a:rPr>
              <a:t>JIM BEAM</a:t>
            </a:r>
            <a:endParaRPr lang="en-US" sz="1000" dirty="0"/>
          </a:p>
        </p:txBody>
      </p:sp>
      <p:sp>
        <p:nvSpPr>
          <p:cNvPr id="14" name="Text 11"/>
          <p:cNvSpPr/>
          <p:nvPr/>
        </p:nvSpPr>
        <p:spPr>
          <a:xfrm>
            <a:off x="7955280" y="3291840"/>
            <a:ext cx="868680" cy="365760"/>
          </a:xfrm>
          <a:prstGeom prst="rect">
            <a:avLst/>
          </a:prstGeom>
          <a:noFill/>
          <a:ln/>
        </p:spPr>
        <p:txBody>
          <a:bodyPr wrap="square" lIns="0" tIns="0" rIns="0" bIns="0" rtlCol="0" anchor="ctr"/>
          <a:lstStyle/>
          <a:p>
            <a:pPr marL="0" indent="0">
              <a:buNone/>
            </a:pPr>
            <a:r>
              <a:rPr lang="en-US" sz="1100" b="1" dirty="0">
                <a:solidFill>
                  <a:srgbClr val="2E75B6"/>
                </a:solidFill>
                <a:latin typeface="Calibri" pitchFamily="34" charset="0"/>
                <a:ea typeface="Calibri" pitchFamily="34" charset="-122"/>
                <a:cs typeface="Calibri" pitchFamily="34" charset="-120"/>
              </a:rPr>
              <a:t>$761.2K</a:t>
            </a:r>
            <a:endParaRPr lang="en-US" sz="1100" dirty="0"/>
          </a:p>
        </p:txBody>
      </p:sp>
      <p:sp>
        <p:nvSpPr>
          <p:cNvPr id="15" name="Shape 12"/>
          <p:cNvSpPr/>
          <p:nvPr/>
        </p:nvSpPr>
        <p:spPr>
          <a:xfrm>
            <a:off x="6446520" y="3739896"/>
            <a:ext cx="2423160" cy="411480"/>
          </a:xfrm>
          <a:prstGeom prst="rect">
            <a:avLst/>
          </a:prstGeom>
          <a:solidFill>
            <a:srgbClr val="F4F8FC"/>
          </a:solidFill>
          <a:ln w="12700">
            <a:solidFill>
              <a:srgbClr val="BDD7EE"/>
            </a:solidFill>
            <a:prstDash val="solid"/>
          </a:ln>
        </p:spPr>
      </p:sp>
      <p:sp>
        <p:nvSpPr>
          <p:cNvPr id="16" name="Text 13"/>
          <p:cNvSpPr/>
          <p:nvPr/>
        </p:nvSpPr>
        <p:spPr>
          <a:xfrm>
            <a:off x="6492240" y="3767328"/>
            <a:ext cx="1463040" cy="365760"/>
          </a:xfrm>
          <a:prstGeom prst="rect">
            <a:avLst/>
          </a:prstGeom>
          <a:noFill/>
          <a:ln/>
        </p:spPr>
        <p:txBody>
          <a:bodyPr wrap="square" lIns="0" tIns="0" rIns="0" bIns="0" rtlCol="0" anchor="ctr"/>
          <a:lstStyle/>
          <a:p>
            <a:pPr marL="0" indent="0">
              <a:buNone/>
            </a:pPr>
            <a:r>
              <a:rPr lang="en-US" sz="1000" dirty="0">
                <a:solidFill>
                  <a:srgbClr val="1A1A2E"/>
                </a:solidFill>
                <a:latin typeface="Calibri" pitchFamily="34" charset="0"/>
                <a:ea typeface="Calibri" pitchFamily="34" charset="-122"/>
                <a:cs typeface="Calibri" pitchFamily="34" charset="-120"/>
              </a:rPr>
              <a:t>PERNOD RICARD</a:t>
            </a:r>
            <a:endParaRPr lang="en-US" sz="1000" dirty="0"/>
          </a:p>
        </p:txBody>
      </p:sp>
      <p:sp>
        <p:nvSpPr>
          <p:cNvPr id="17" name="Text 14"/>
          <p:cNvSpPr/>
          <p:nvPr/>
        </p:nvSpPr>
        <p:spPr>
          <a:xfrm>
            <a:off x="7955280" y="3767328"/>
            <a:ext cx="868680" cy="365760"/>
          </a:xfrm>
          <a:prstGeom prst="rect">
            <a:avLst/>
          </a:prstGeom>
          <a:noFill/>
          <a:ln/>
        </p:spPr>
        <p:txBody>
          <a:bodyPr wrap="square" lIns="0" tIns="0" rIns="0" bIns="0" rtlCol="0" anchor="ctr"/>
          <a:lstStyle/>
          <a:p>
            <a:pPr marL="0" indent="0">
              <a:buNone/>
            </a:pPr>
            <a:r>
              <a:rPr lang="en-US" sz="1100" b="1" dirty="0">
                <a:solidFill>
                  <a:srgbClr val="2E75B6"/>
                </a:solidFill>
                <a:latin typeface="Calibri" pitchFamily="34" charset="0"/>
                <a:ea typeface="Calibri" pitchFamily="34" charset="-122"/>
                <a:cs typeface="Calibri" pitchFamily="34" charset="-120"/>
              </a:rPr>
              <a:t>$647.4K</a:t>
            </a:r>
            <a:endParaRPr lang="en-US" sz="1100" dirty="0"/>
          </a:p>
        </p:txBody>
      </p:sp>
      <p:sp>
        <p:nvSpPr>
          <p:cNvPr id="18" name="Text 15"/>
          <p:cNvSpPr/>
          <p:nvPr/>
        </p:nvSpPr>
        <p:spPr>
          <a:xfrm>
            <a:off x="6446520" y="4343400"/>
            <a:ext cx="2423160" cy="594360"/>
          </a:xfrm>
          <a:prstGeom prst="rect">
            <a:avLst/>
          </a:prstGeom>
          <a:noFill/>
          <a:ln/>
        </p:spPr>
        <p:txBody>
          <a:bodyPr wrap="square" rtlCol="0" anchor="ctr"/>
          <a:lstStyle/>
          <a:p>
            <a:pPr marL="0" indent="0">
              <a:buNone/>
            </a:pPr>
            <a:r>
              <a:rPr lang="en-US" sz="1100" i="1" dirty="0">
                <a:solidFill>
                  <a:srgbClr val="2E75B6"/>
                </a:solidFill>
                <a:latin typeface="Calibri" pitchFamily="34" charset="0"/>
                <a:ea typeface="Calibri" pitchFamily="34" charset="-122"/>
                <a:cs typeface="Calibri" pitchFamily="34" charset="-120"/>
              </a:rPr>
              <a:t>Action: Clearance sales + negotiate return policies</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2E75B6"/>
          </a:solidFill>
          <a:ln w="12700">
            <a:solidFill>
              <a:srgbClr val="2E75B6"/>
            </a:solidFill>
            <a:prstDash val="solid"/>
          </a:ln>
        </p:spPr>
      </p:sp>
      <p:sp>
        <p:nvSpPr>
          <p:cNvPr id="3" name="Text 1"/>
          <p:cNvSpPr/>
          <p:nvPr/>
        </p:nvSpPr>
        <p:spPr>
          <a:xfrm>
            <a:off x="365760" y="137160"/>
            <a:ext cx="8412480" cy="64008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RQ7 &amp; RQ8: Statistical Analysis of Profit Margins</a:t>
            </a:r>
            <a:endParaRPr lang="en-US" sz="2200" dirty="0"/>
          </a:p>
        </p:txBody>
      </p:sp>
      <p:pic>
        <p:nvPicPr>
          <p:cNvPr id="4" name="Image 0" descr="/mnt/user-data/uploads/rq7_rq8_confidence_hypothesis.png"/>
          <p:cNvPicPr>
            <a:picLocks noChangeAspect="1"/>
          </p:cNvPicPr>
          <p:nvPr/>
        </p:nvPicPr>
        <p:blipFill>
          <a:blip r:embed="rId3"/>
          <a:stretch>
            <a:fillRect/>
          </a:stretch>
        </p:blipFill>
        <p:spPr>
          <a:xfrm>
            <a:off x="274320" y="1005840"/>
            <a:ext cx="8595360" cy="393192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8FC"/>
        </a:solidFill>
        <a:effectLst/>
      </p:bgPr>
    </p:bg>
    <p:spTree>
      <p:nvGrpSpPr>
        <p:cNvPr id="1" name=""/>
        <p:cNvGrpSpPr/>
        <p:nvPr/>
      </p:nvGrpSpPr>
      <p:grpSpPr>
        <a:xfrm>
          <a:off x="0" y="0"/>
          <a:ext cx="0" cy="0"/>
          <a:chOff x="0" y="0"/>
          <a:chExt cx="0" cy="0"/>
        </a:xfrm>
      </p:grpSpPr>
      <p:sp>
        <p:nvSpPr>
          <p:cNvPr id="2" name="Text 0"/>
          <p:cNvSpPr/>
          <p:nvPr/>
        </p:nvSpPr>
        <p:spPr>
          <a:xfrm>
            <a:off x="365760" y="182880"/>
            <a:ext cx="8412480" cy="594360"/>
          </a:xfrm>
          <a:prstGeom prst="rect">
            <a:avLst/>
          </a:prstGeom>
          <a:noFill/>
          <a:ln/>
        </p:spPr>
        <p:txBody>
          <a:bodyPr wrap="square" rtlCol="0" anchor="ctr"/>
          <a:lstStyle/>
          <a:p>
            <a:pPr marL="0" indent="0">
              <a:buNone/>
            </a:pPr>
            <a:r>
              <a:rPr lang="en-US" sz="2800" b="1" dirty="0">
                <a:solidFill>
                  <a:srgbClr val="1F4E79"/>
                </a:solidFill>
                <a:latin typeface="Calibri" pitchFamily="34" charset="0"/>
                <a:ea typeface="Calibri" pitchFamily="34" charset="-122"/>
                <a:cs typeface="Calibri" pitchFamily="34" charset="-120"/>
              </a:rPr>
              <a:t>Statistical Findings Summary</a:t>
            </a:r>
            <a:endParaRPr lang="en-US" sz="2800" dirty="0"/>
          </a:p>
        </p:txBody>
      </p:sp>
      <p:sp>
        <p:nvSpPr>
          <p:cNvPr id="3" name="Shape 1"/>
          <p:cNvSpPr/>
          <p:nvPr/>
        </p:nvSpPr>
        <p:spPr>
          <a:xfrm>
            <a:off x="365760" y="960120"/>
            <a:ext cx="3931920" cy="1828800"/>
          </a:xfrm>
          <a:prstGeom prst="rect">
            <a:avLst/>
          </a:prstGeom>
          <a:solidFill>
            <a:srgbClr val="FFFFFF"/>
          </a:solidFill>
          <a:ln w="12700">
            <a:solidFill>
              <a:srgbClr val="BDD7EE"/>
            </a:solidFill>
            <a:prstDash val="solid"/>
          </a:ln>
        </p:spPr>
      </p:sp>
      <p:sp>
        <p:nvSpPr>
          <p:cNvPr id="4" name="Shape 2"/>
          <p:cNvSpPr/>
          <p:nvPr/>
        </p:nvSpPr>
        <p:spPr>
          <a:xfrm>
            <a:off x="365760" y="960120"/>
            <a:ext cx="3931920" cy="91440"/>
          </a:xfrm>
          <a:prstGeom prst="rect">
            <a:avLst/>
          </a:prstGeom>
          <a:solidFill>
            <a:srgbClr val="2E75B6"/>
          </a:solidFill>
          <a:ln w="12700">
            <a:solidFill>
              <a:srgbClr val="2E75B6"/>
            </a:solidFill>
            <a:prstDash val="solid"/>
          </a:ln>
        </p:spPr>
      </p:sp>
      <p:sp>
        <p:nvSpPr>
          <p:cNvPr id="5" name="Text 3"/>
          <p:cNvSpPr/>
          <p:nvPr/>
        </p:nvSpPr>
        <p:spPr>
          <a:xfrm>
            <a:off x="457200" y="1097280"/>
            <a:ext cx="3749040" cy="411480"/>
          </a:xfrm>
          <a:prstGeom prst="rect">
            <a:avLst/>
          </a:prstGeom>
          <a:noFill/>
          <a:ln/>
        </p:spPr>
        <p:txBody>
          <a:bodyPr wrap="square" rtlCol="0" anchor="ctr"/>
          <a:lstStyle/>
          <a:p>
            <a:pPr marL="0" indent="0">
              <a:buNone/>
            </a:pPr>
            <a:r>
              <a:rPr lang="en-US" sz="1400" b="1" dirty="0">
                <a:solidFill>
                  <a:srgbClr val="1F4E79"/>
                </a:solidFill>
                <a:latin typeface="Calibri" pitchFamily="34" charset="0"/>
                <a:ea typeface="Calibri" pitchFamily="34" charset="-122"/>
                <a:cs typeface="Calibri" pitchFamily="34" charset="-120"/>
              </a:rPr>
              <a:t>95% Confidence Intervals</a:t>
            </a:r>
            <a:endParaRPr lang="en-US" sz="1400" dirty="0"/>
          </a:p>
        </p:txBody>
      </p:sp>
      <p:sp>
        <p:nvSpPr>
          <p:cNvPr id="6" name="Text 4"/>
          <p:cNvSpPr/>
          <p:nvPr/>
        </p:nvSpPr>
        <p:spPr>
          <a:xfrm>
            <a:off x="457200" y="1554480"/>
            <a:ext cx="3749040" cy="365760"/>
          </a:xfrm>
          <a:prstGeom prst="rect">
            <a:avLst/>
          </a:prstGeom>
          <a:noFill/>
          <a:ln/>
        </p:spPr>
        <p:txBody>
          <a:bodyPr wrap="square" rtlCol="0" anchor="ctr"/>
          <a:lstStyle/>
          <a:p>
            <a:pPr marL="0" indent="0">
              <a:buNone/>
            </a:pPr>
            <a:r>
              <a:rPr lang="en-US" sz="1300" b="1" dirty="0">
                <a:solidFill>
                  <a:srgbClr val="2E75B6"/>
                </a:solidFill>
                <a:latin typeface="Calibri" pitchFamily="34" charset="0"/>
                <a:ea typeface="Calibri" pitchFamily="34" charset="-122"/>
                <a:cs typeface="Calibri" pitchFamily="34" charset="-120"/>
              </a:rPr>
              <a:t>Top Vendors: 30.89% — 31.74%</a:t>
            </a:r>
            <a:endParaRPr lang="en-US" sz="1300" dirty="0"/>
          </a:p>
        </p:txBody>
      </p:sp>
      <p:sp>
        <p:nvSpPr>
          <p:cNvPr id="7" name="Text 5"/>
          <p:cNvSpPr/>
          <p:nvPr/>
        </p:nvSpPr>
        <p:spPr>
          <a:xfrm>
            <a:off x="457200" y="1965960"/>
            <a:ext cx="3749040" cy="365760"/>
          </a:xfrm>
          <a:prstGeom prst="rect">
            <a:avLst/>
          </a:prstGeom>
          <a:noFill/>
          <a:ln/>
        </p:spPr>
        <p:txBody>
          <a:bodyPr wrap="square" rtlCol="0" anchor="ctr"/>
          <a:lstStyle/>
          <a:p>
            <a:pPr marL="0" indent="0">
              <a:buNone/>
            </a:pPr>
            <a:r>
              <a:rPr lang="en-US" sz="1300" b="1" dirty="0">
                <a:solidFill>
                  <a:srgbClr val="E05C5C"/>
                </a:solidFill>
                <a:latin typeface="Calibri" pitchFamily="34" charset="0"/>
                <a:ea typeface="Calibri" pitchFamily="34" charset="-122"/>
                <a:cs typeface="Calibri" pitchFamily="34" charset="-120"/>
              </a:rPr>
              <a:t>Low Vendors: 40.65% — 42.74%</a:t>
            </a:r>
            <a:endParaRPr lang="en-US" sz="1300" dirty="0"/>
          </a:p>
        </p:txBody>
      </p:sp>
      <p:sp>
        <p:nvSpPr>
          <p:cNvPr id="8" name="Text 6"/>
          <p:cNvSpPr/>
          <p:nvPr/>
        </p:nvSpPr>
        <p:spPr>
          <a:xfrm>
            <a:off x="457200" y="2377440"/>
            <a:ext cx="3749040" cy="548640"/>
          </a:xfrm>
          <a:prstGeom prst="rect">
            <a:avLst/>
          </a:prstGeom>
          <a:noFill/>
          <a:ln/>
        </p:spPr>
        <p:txBody>
          <a:bodyPr wrap="square"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Low performers have HIGHER margins — they sell premium products in low volumes.</a:t>
            </a:r>
            <a:endParaRPr lang="en-US" sz="1100" dirty="0"/>
          </a:p>
        </p:txBody>
      </p:sp>
      <p:sp>
        <p:nvSpPr>
          <p:cNvPr id="9" name="Shape 7"/>
          <p:cNvSpPr/>
          <p:nvPr/>
        </p:nvSpPr>
        <p:spPr>
          <a:xfrm>
            <a:off x="4846320" y="960120"/>
            <a:ext cx="3931920" cy="1828800"/>
          </a:xfrm>
          <a:prstGeom prst="rect">
            <a:avLst/>
          </a:prstGeom>
          <a:solidFill>
            <a:srgbClr val="FFFFFF"/>
          </a:solidFill>
          <a:ln w="12700">
            <a:solidFill>
              <a:srgbClr val="BDD7EE"/>
            </a:solidFill>
            <a:prstDash val="solid"/>
          </a:ln>
        </p:spPr>
      </p:sp>
      <p:sp>
        <p:nvSpPr>
          <p:cNvPr id="10" name="Shape 8"/>
          <p:cNvSpPr/>
          <p:nvPr/>
        </p:nvSpPr>
        <p:spPr>
          <a:xfrm>
            <a:off x="4846320" y="960120"/>
            <a:ext cx="3931920" cy="91440"/>
          </a:xfrm>
          <a:prstGeom prst="rect">
            <a:avLst/>
          </a:prstGeom>
          <a:solidFill>
            <a:srgbClr val="E8A020"/>
          </a:solidFill>
          <a:ln w="12700">
            <a:solidFill>
              <a:srgbClr val="E8A020"/>
            </a:solidFill>
            <a:prstDash val="solid"/>
          </a:ln>
        </p:spPr>
      </p:sp>
      <p:sp>
        <p:nvSpPr>
          <p:cNvPr id="11" name="Text 9"/>
          <p:cNvSpPr/>
          <p:nvPr/>
        </p:nvSpPr>
        <p:spPr>
          <a:xfrm>
            <a:off x="4937760" y="1097280"/>
            <a:ext cx="3749040" cy="411480"/>
          </a:xfrm>
          <a:prstGeom prst="rect">
            <a:avLst/>
          </a:prstGeom>
          <a:noFill/>
          <a:ln/>
        </p:spPr>
        <p:txBody>
          <a:bodyPr wrap="square" rtlCol="0" anchor="ctr"/>
          <a:lstStyle/>
          <a:p>
            <a:pPr marL="0" indent="0">
              <a:buNone/>
            </a:pPr>
            <a:r>
              <a:rPr lang="en-US" sz="1400" b="1" dirty="0">
                <a:solidFill>
                  <a:srgbClr val="1F4E79"/>
                </a:solidFill>
                <a:latin typeface="Calibri" pitchFamily="34" charset="0"/>
                <a:ea typeface="Calibri" pitchFamily="34" charset="-122"/>
                <a:cs typeface="Calibri" pitchFamily="34" charset="-120"/>
              </a:rPr>
              <a:t>Hypothesis Test (T-Test)</a:t>
            </a:r>
            <a:endParaRPr lang="en-US" sz="1400" dirty="0"/>
          </a:p>
        </p:txBody>
      </p:sp>
      <p:sp>
        <p:nvSpPr>
          <p:cNvPr id="12" name="Text 10"/>
          <p:cNvSpPr/>
          <p:nvPr/>
        </p:nvSpPr>
        <p:spPr>
          <a:xfrm>
            <a:off x="4937760" y="1554480"/>
            <a:ext cx="3749040" cy="365760"/>
          </a:xfrm>
          <a:prstGeom prst="rect">
            <a:avLst/>
          </a:prstGeom>
          <a:noFill/>
          <a:ln/>
        </p:spPr>
        <p:txBody>
          <a:bodyPr wrap="square" rtlCol="0" anchor="ctr"/>
          <a:lstStyle/>
          <a:p>
            <a:pPr marL="0" indent="0">
              <a:buNone/>
            </a:pPr>
            <a:r>
              <a:rPr lang="en-US" sz="1300" dirty="0">
                <a:solidFill>
                  <a:srgbClr val="1A1A2E"/>
                </a:solidFill>
                <a:latin typeface="Calibri" pitchFamily="34" charset="0"/>
                <a:ea typeface="Calibri" pitchFamily="34" charset="-122"/>
                <a:cs typeface="Calibri" pitchFamily="34" charset="-120"/>
              </a:rPr>
              <a:t>T-Statistic: -17.9851</a:t>
            </a:r>
            <a:endParaRPr lang="en-US" sz="1300" dirty="0"/>
          </a:p>
        </p:txBody>
      </p:sp>
      <p:sp>
        <p:nvSpPr>
          <p:cNvPr id="13" name="Text 11"/>
          <p:cNvSpPr/>
          <p:nvPr/>
        </p:nvSpPr>
        <p:spPr>
          <a:xfrm>
            <a:off x="4937760" y="1938528"/>
            <a:ext cx="3749040" cy="365760"/>
          </a:xfrm>
          <a:prstGeom prst="rect">
            <a:avLst/>
          </a:prstGeom>
          <a:noFill/>
          <a:ln/>
        </p:spPr>
        <p:txBody>
          <a:bodyPr wrap="square" rtlCol="0" anchor="ctr"/>
          <a:lstStyle/>
          <a:p>
            <a:pPr marL="0" indent="0">
              <a:buNone/>
            </a:pPr>
            <a:r>
              <a:rPr lang="en-US" sz="1300" dirty="0">
                <a:solidFill>
                  <a:srgbClr val="1A1A2E"/>
                </a:solidFill>
                <a:latin typeface="Calibri" pitchFamily="34" charset="0"/>
                <a:ea typeface="Calibri" pitchFamily="34" charset="-122"/>
                <a:cs typeface="Calibri" pitchFamily="34" charset="-120"/>
              </a:rPr>
              <a:t>P-Value: 0.000000</a:t>
            </a:r>
            <a:endParaRPr lang="en-US" sz="1300" dirty="0"/>
          </a:p>
        </p:txBody>
      </p:sp>
      <p:sp>
        <p:nvSpPr>
          <p:cNvPr id="14" name="Text 12"/>
          <p:cNvSpPr/>
          <p:nvPr/>
        </p:nvSpPr>
        <p:spPr>
          <a:xfrm>
            <a:off x="4937760" y="2359152"/>
            <a:ext cx="3749040" cy="365760"/>
          </a:xfrm>
          <a:prstGeom prst="rect">
            <a:avLst/>
          </a:prstGeom>
          <a:noFill/>
          <a:ln/>
        </p:spPr>
        <p:txBody>
          <a:bodyPr wrap="square" rtlCol="0" anchor="ctr"/>
          <a:lstStyle/>
          <a:p>
            <a:pPr marL="0" indent="0">
              <a:buNone/>
            </a:pPr>
            <a:r>
              <a:rPr lang="en-US" sz="1200" b="1" dirty="0">
                <a:solidFill>
                  <a:srgbClr val="2E7D32"/>
                </a:solidFill>
                <a:latin typeface="Calibri" pitchFamily="34" charset="0"/>
                <a:ea typeface="Calibri" pitchFamily="34" charset="-122"/>
                <a:cs typeface="Calibri" pitchFamily="34" charset="-120"/>
              </a:rPr>
              <a:t>REJECT H0 — Significant difference confirmed!</a:t>
            </a:r>
            <a:endParaRPr lang="en-US" sz="1200" dirty="0"/>
          </a:p>
        </p:txBody>
      </p:sp>
      <p:sp>
        <p:nvSpPr>
          <p:cNvPr id="15" name="Shape 13"/>
          <p:cNvSpPr/>
          <p:nvPr/>
        </p:nvSpPr>
        <p:spPr>
          <a:xfrm>
            <a:off x="365760" y="3017520"/>
            <a:ext cx="8412480" cy="1371600"/>
          </a:xfrm>
          <a:prstGeom prst="rect">
            <a:avLst/>
          </a:prstGeom>
          <a:solidFill>
            <a:srgbClr val="1F4E79"/>
          </a:solidFill>
          <a:ln w="12700">
            <a:solidFill>
              <a:srgbClr val="1F4E79"/>
            </a:solidFill>
            <a:prstDash val="solid"/>
          </a:ln>
        </p:spPr>
      </p:sp>
      <p:sp>
        <p:nvSpPr>
          <p:cNvPr id="16" name="Text 14"/>
          <p:cNvSpPr/>
          <p:nvPr/>
        </p:nvSpPr>
        <p:spPr>
          <a:xfrm>
            <a:off x="548640" y="3090672"/>
            <a:ext cx="8046720" cy="123444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Key Insight: The difference in profit margins between top and low performing vendors is statistically significant and is NOT due to chance. Low volume vendors deliberately focus on premium products yielding higher per-unit margins.</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F4E79"/>
          </a:solidFill>
          <a:ln w="12700">
            <a:solidFill>
              <a:srgbClr val="1F4E79"/>
            </a:solidFill>
            <a:prstDash val="solid"/>
          </a:ln>
        </p:spPr>
      </p:sp>
      <p:sp>
        <p:nvSpPr>
          <p:cNvPr id="3" name="Text 1"/>
          <p:cNvSpPr/>
          <p:nvPr/>
        </p:nvSpPr>
        <p:spPr>
          <a:xfrm>
            <a:off x="365760" y="137160"/>
            <a:ext cx="8412480" cy="64008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Strategic Recommendations</a:t>
            </a:r>
            <a:endParaRPr lang="en-US" sz="2800" dirty="0"/>
          </a:p>
        </p:txBody>
      </p:sp>
      <p:sp>
        <p:nvSpPr>
          <p:cNvPr id="4" name="Shape 2"/>
          <p:cNvSpPr/>
          <p:nvPr/>
        </p:nvSpPr>
        <p:spPr>
          <a:xfrm>
            <a:off x="320040" y="1051560"/>
            <a:ext cx="4206240" cy="1143000"/>
          </a:xfrm>
          <a:prstGeom prst="rect">
            <a:avLst/>
          </a:prstGeom>
          <a:solidFill>
            <a:srgbClr val="F4F8FC"/>
          </a:solidFill>
          <a:ln w="12700">
            <a:solidFill>
              <a:srgbClr val="BDD7EE"/>
            </a:solidFill>
            <a:prstDash val="solid"/>
          </a:ln>
        </p:spPr>
      </p:sp>
      <p:sp>
        <p:nvSpPr>
          <p:cNvPr id="5" name="Shape 3"/>
          <p:cNvSpPr/>
          <p:nvPr/>
        </p:nvSpPr>
        <p:spPr>
          <a:xfrm>
            <a:off x="320040" y="1051560"/>
            <a:ext cx="502920" cy="1143000"/>
          </a:xfrm>
          <a:prstGeom prst="rect">
            <a:avLst/>
          </a:prstGeom>
          <a:solidFill>
            <a:srgbClr val="1F4E79"/>
          </a:solidFill>
          <a:ln w="12700">
            <a:solidFill>
              <a:srgbClr val="1F4E79"/>
            </a:solidFill>
            <a:prstDash val="solid"/>
          </a:ln>
        </p:spPr>
      </p:sp>
      <p:sp>
        <p:nvSpPr>
          <p:cNvPr id="6" name="Text 4"/>
          <p:cNvSpPr/>
          <p:nvPr/>
        </p:nvSpPr>
        <p:spPr>
          <a:xfrm>
            <a:off x="320040" y="1051560"/>
            <a:ext cx="502920" cy="11430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01</a:t>
            </a:r>
            <a:endParaRPr lang="en-US" sz="1600" dirty="0"/>
          </a:p>
        </p:txBody>
      </p:sp>
      <p:sp>
        <p:nvSpPr>
          <p:cNvPr id="7" name="Shape 5"/>
          <p:cNvSpPr/>
          <p:nvPr/>
        </p:nvSpPr>
        <p:spPr>
          <a:xfrm>
            <a:off x="3611880" y="1124712"/>
            <a:ext cx="804672" cy="320040"/>
          </a:xfrm>
          <a:prstGeom prst="rect">
            <a:avLst/>
          </a:prstGeom>
          <a:solidFill>
            <a:srgbClr val="E05C5C"/>
          </a:solidFill>
          <a:ln w="12700">
            <a:solidFill>
              <a:srgbClr val="E05C5C"/>
            </a:solidFill>
            <a:prstDash val="solid"/>
          </a:ln>
        </p:spPr>
      </p:sp>
      <p:sp>
        <p:nvSpPr>
          <p:cNvPr id="8" name="Text 6"/>
          <p:cNvSpPr/>
          <p:nvPr/>
        </p:nvSpPr>
        <p:spPr>
          <a:xfrm>
            <a:off x="3611880" y="1124712"/>
            <a:ext cx="804672" cy="32004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HIGH</a:t>
            </a:r>
            <a:endParaRPr lang="en-US" sz="900" dirty="0"/>
          </a:p>
        </p:txBody>
      </p:sp>
      <p:sp>
        <p:nvSpPr>
          <p:cNvPr id="9" name="Text 7"/>
          <p:cNvSpPr/>
          <p:nvPr/>
        </p:nvSpPr>
        <p:spPr>
          <a:xfrm>
            <a:off x="914400" y="1051560"/>
            <a:ext cx="2606040" cy="1143000"/>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Re-evaluate pricing for 193 brands with low sales but high margins</a:t>
            </a:r>
            <a:endParaRPr lang="en-US" sz="1100" dirty="0"/>
          </a:p>
        </p:txBody>
      </p:sp>
      <p:sp>
        <p:nvSpPr>
          <p:cNvPr id="10" name="Shape 8"/>
          <p:cNvSpPr/>
          <p:nvPr/>
        </p:nvSpPr>
        <p:spPr>
          <a:xfrm>
            <a:off x="4846320" y="1051560"/>
            <a:ext cx="4206240" cy="1143000"/>
          </a:xfrm>
          <a:prstGeom prst="rect">
            <a:avLst/>
          </a:prstGeom>
          <a:solidFill>
            <a:srgbClr val="F4F8FC"/>
          </a:solidFill>
          <a:ln w="12700">
            <a:solidFill>
              <a:srgbClr val="BDD7EE"/>
            </a:solidFill>
            <a:prstDash val="solid"/>
          </a:ln>
        </p:spPr>
      </p:sp>
      <p:sp>
        <p:nvSpPr>
          <p:cNvPr id="11" name="Shape 9"/>
          <p:cNvSpPr/>
          <p:nvPr/>
        </p:nvSpPr>
        <p:spPr>
          <a:xfrm>
            <a:off x="4846320" y="1051560"/>
            <a:ext cx="502920" cy="1143000"/>
          </a:xfrm>
          <a:prstGeom prst="rect">
            <a:avLst/>
          </a:prstGeom>
          <a:solidFill>
            <a:srgbClr val="1F4E79"/>
          </a:solidFill>
          <a:ln w="12700">
            <a:solidFill>
              <a:srgbClr val="1F4E79"/>
            </a:solidFill>
            <a:prstDash val="solid"/>
          </a:ln>
        </p:spPr>
      </p:sp>
      <p:sp>
        <p:nvSpPr>
          <p:cNvPr id="12" name="Text 10"/>
          <p:cNvSpPr/>
          <p:nvPr/>
        </p:nvSpPr>
        <p:spPr>
          <a:xfrm>
            <a:off x="4846320" y="1051560"/>
            <a:ext cx="502920" cy="11430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02</a:t>
            </a:r>
            <a:endParaRPr lang="en-US" sz="1600" dirty="0"/>
          </a:p>
        </p:txBody>
      </p:sp>
      <p:sp>
        <p:nvSpPr>
          <p:cNvPr id="13" name="Shape 11"/>
          <p:cNvSpPr/>
          <p:nvPr/>
        </p:nvSpPr>
        <p:spPr>
          <a:xfrm>
            <a:off x="8138160" y="1124712"/>
            <a:ext cx="804672" cy="320040"/>
          </a:xfrm>
          <a:prstGeom prst="rect">
            <a:avLst/>
          </a:prstGeom>
          <a:solidFill>
            <a:srgbClr val="E05C5C"/>
          </a:solidFill>
          <a:ln w="12700">
            <a:solidFill>
              <a:srgbClr val="E05C5C"/>
            </a:solidFill>
            <a:prstDash val="solid"/>
          </a:ln>
        </p:spPr>
      </p:sp>
      <p:sp>
        <p:nvSpPr>
          <p:cNvPr id="14" name="Text 12"/>
          <p:cNvSpPr/>
          <p:nvPr/>
        </p:nvSpPr>
        <p:spPr>
          <a:xfrm>
            <a:off x="8138160" y="1124712"/>
            <a:ext cx="804672" cy="32004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HIGH</a:t>
            </a:r>
            <a:endParaRPr lang="en-US" sz="900" dirty="0"/>
          </a:p>
        </p:txBody>
      </p:sp>
      <p:sp>
        <p:nvSpPr>
          <p:cNvPr id="15" name="Text 13"/>
          <p:cNvSpPr/>
          <p:nvPr/>
        </p:nvSpPr>
        <p:spPr>
          <a:xfrm>
            <a:off x="5440680" y="1051560"/>
            <a:ext cx="2606040" cy="1143000"/>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Diversify vendor base — top 10 control 64.72% of purchases</a:t>
            </a:r>
            <a:endParaRPr lang="en-US" sz="1100" dirty="0"/>
          </a:p>
        </p:txBody>
      </p:sp>
      <p:sp>
        <p:nvSpPr>
          <p:cNvPr id="16" name="Shape 14"/>
          <p:cNvSpPr/>
          <p:nvPr/>
        </p:nvSpPr>
        <p:spPr>
          <a:xfrm>
            <a:off x="320040" y="2377440"/>
            <a:ext cx="4206240" cy="1143000"/>
          </a:xfrm>
          <a:prstGeom prst="rect">
            <a:avLst/>
          </a:prstGeom>
          <a:solidFill>
            <a:srgbClr val="F4F8FC"/>
          </a:solidFill>
          <a:ln w="12700">
            <a:solidFill>
              <a:srgbClr val="BDD7EE"/>
            </a:solidFill>
            <a:prstDash val="solid"/>
          </a:ln>
        </p:spPr>
      </p:sp>
      <p:sp>
        <p:nvSpPr>
          <p:cNvPr id="17" name="Shape 15"/>
          <p:cNvSpPr/>
          <p:nvPr/>
        </p:nvSpPr>
        <p:spPr>
          <a:xfrm>
            <a:off x="320040" y="2377440"/>
            <a:ext cx="502920" cy="1143000"/>
          </a:xfrm>
          <a:prstGeom prst="rect">
            <a:avLst/>
          </a:prstGeom>
          <a:solidFill>
            <a:srgbClr val="1F4E79"/>
          </a:solidFill>
          <a:ln w="12700">
            <a:solidFill>
              <a:srgbClr val="1F4E79"/>
            </a:solidFill>
            <a:prstDash val="solid"/>
          </a:ln>
        </p:spPr>
      </p:sp>
      <p:sp>
        <p:nvSpPr>
          <p:cNvPr id="18" name="Text 16"/>
          <p:cNvSpPr/>
          <p:nvPr/>
        </p:nvSpPr>
        <p:spPr>
          <a:xfrm>
            <a:off x="320040" y="2377440"/>
            <a:ext cx="502920" cy="11430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03</a:t>
            </a:r>
            <a:endParaRPr lang="en-US" sz="1600" dirty="0"/>
          </a:p>
        </p:txBody>
      </p:sp>
      <p:sp>
        <p:nvSpPr>
          <p:cNvPr id="19" name="Shape 17"/>
          <p:cNvSpPr/>
          <p:nvPr/>
        </p:nvSpPr>
        <p:spPr>
          <a:xfrm>
            <a:off x="3611880" y="2450592"/>
            <a:ext cx="804672" cy="320040"/>
          </a:xfrm>
          <a:prstGeom prst="rect">
            <a:avLst/>
          </a:prstGeom>
          <a:solidFill>
            <a:srgbClr val="E8A020"/>
          </a:solidFill>
          <a:ln w="12700">
            <a:solidFill>
              <a:srgbClr val="E8A020"/>
            </a:solidFill>
            <a:prstDash val="solid"/>
          </a:ln>
        </p:spPr>
      </p:sp>
      <p:sp>
        <p:nvSpPr>
          <p:cNvPr id="20" name="Text 18"/>
          <p:cNvSpPr/>
          <p:nvPr/>
        </p:nvSpPr>
        <p:spPr>
          <a:xfrm>
            <a:off x="3611880" y="2450592"/>
            <a:ext cx="804672" cy="32004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MEDIUM</a:t>
            </a:r>
            <a:endParaRPr lang="en-US" sz="900" dirty="0"/>
          </a:p>
        </p:txBody>
      </p:sp>
      <p:sp>
        <p:nvSpPr>
          <p:cNvPr id="21" name="Text 19"/>
          <p:cNvSpPr/>
          <p:nvPr/>
        </p:nvSpPr>
        <p:spPr>
          <a:xfrm>
            <a:off x="914400" y="2377440"/>
            <a:ext cx="2606040" cy="1143000"/>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Leverage bulk purchasing — 74% cost reduction opportunity</a:t>
            </a:r>
            <a:endParaRPr lang="en-US" sz="1100" dirty="0"/>
          </a:p>
        </p:txBody>
      </p:sp>
      <p:sp>
        <p:nvSpPr>
          <p:cNvPr id="22" name="Shape 20"/>
          <p:cNvSpPr/>
          <p:nvPr/>
        </p:nvSpPr>
        <p:spPr>
          <a:xfrm>
            <a:off x="4846320" y="2377440"/>
            <a:ext cx="4206240" cy="1143000"/>
          </a:xfrm>
          <a:prstGeom prst="rect">
            <a:avLst/>
          </a:prstGeom>
          <a:solidFill>
            <a:srgbClr val="F4F8FC"/>
          </a:solidFill>
          <a:ln w="12700">
            <a:solidFill>
              <a:srgbClr val="BDD7EE"/>
            </a:solidFill>
            <a:prstDash val="solid"/>
          </a:ln>
        </p:spPr>
      </p:sp>
      <p:sp>
        <p:nvSpPr>
          <p:cNvPr id="23" name="Shape 21"/>
          <p:cNvSpPr/>
          <p:nvPr/>
        </p:nvSpPr>
        <p:spPr>
          <a:xfrm>
            <a:off x="4846320" y="2377440"/>
            <a:ext cx="502920" cy="1143000"/>
          </a:xfrm>
          <a:prstGeom prst="rect">
            <a:avLst/>
          </a:prstGeom>
          <a:solidFill>
            <a:srgbClr val="1F4E79"/>
          </a:solidFill>
          <a:ln w="12700">
            <a:solidFill>
              <a:srgbClr val="1F4E79"/>
            </a:solidFill>
            <a:prstDash val="solid"/>
          </a:ln>
        </p:spPr>
      </p:sp>
      <p:sp>
        <p:nvSpPr>
          <p:cNvPr id="24" name="Text 22"/>
          <p:cNvSpPr/>
          <p:nvPr/>
        </p:nvSpPr>
        <p:spPr>
          <a:xfrm>
            <a:off x="4846320" y="2377440"/>
            <a:ext cx="502920" cy="11430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04</a:t>
            </a:r>
            <a:endParaRPr lang="en-US" sz="1600" dirty="0"/>
          </a:p>
        </p:txBody>
      </p:sp>
      <p:sp>
        <p:nvSpPr>
          <p:cNvPr id="25" name="Shape 23"/>
          <p:cNvSpPr/>
          <p:nvPr/>
        </p:nvSpPr>
        <p:spPr>
          <a:xfrm>
            <a:off x="8138160" y="2450592"/>
            <a:ext cx="804672" cy="320040"/>
          </a:xfrm>
          <a:prstGeom prst="rect">
            <a:avLst/>
          </a:prstGeom>
          <a:solidFill>
            <a:srgbClr val="E05C5C"/>
          </a:solidFill>
          <a:ln w="12700">
            <a:solidFill>
              <a:srgbClr val="E05C5C"/>
            </a:solidFill>
            <a:prstDash val="solid"/>
          </a:ln>
        </p:spPr>
      </p:sp>
      <p:sp>
        <p:nvSpPr>
          <p:cNvPr id="26" name="Text 24"/>
          <p:cNvSpPr/>
          <p:nvPr/>
        </p:nvSpPr>
        <p:spPr>
          <a:xfrm>
            <a:off x="8138160" y="2450592"/>
            <a:ext cx="804672" cy="32004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HIGH</a:t>
            </a:r>
            <a:endParaRPr lang="en-US" sz="900" dirty="0"/>
          </a:p>
        </p:txBody>
      </p:sp>
      <p:sp>
        <p:nvSpPr>
          <p:cNvPr id="27" name="Text 25"/>
          <p:cNvSpPr/>
          <p:nvPr/>
        </p:nvSpPr>
        <p:spPr>
          <a:xfrm>
            <a:off x="5440680" y="2377440"/>
            <a:ext cx="2606040" cy="1143000"/>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Clear $3.66M locked in unsold inventory through promotions</a:t>
            </a:r>
            <a:endParaRPr lang="en-US" sz="1100" dirty="0"/>
          </a:p>
        </p:txBody>
      </p:sp>
      <p:sp>
        <p:nvSpPr>
          <p:cNvPr id="28" name="Shape 26"/>
          <p:cNvSpPr/>
          <p:nvPr/>
        </p:nvSpPr>
        <p:spPr>
          <a:xfrm>
            <a:off x="320040" y="3703320"/>
            <a:ext cx="4206240" cy="1143000"/>
          </a:xfrm>
          <a:prstGeom prst="rect">
            <a:avLst/>
          </a:prstGeom>
          <a:solidFill>
            <a:srgbClr val="F4F8FC"/>
          </a:solidFill>
          <a:ln w="12700">
            <a:solidFill>
              <a:srgbClr val="BDD7EE"/>
            </a:solidFill>
            <a:prstDash val="solid"/>
          </a:ln>
        </p:spPr>
      </p:sp>
      <p:sp>
        <p:nvSpPr>
          <p:cNvPr id="29" name="Shape 27"/>
          <p:cNvSpPr/>
          <p:nvPr/>
        </p:nvSpPr>
        <p:spPr>
          <a:xfrm>
            <a:off x="320040" y="3703320"/>
            <a:ext cx="502920" cy="1143000"/>
          </a:xfrm>
          <a:prstGeom prst="rect">
            <a:avLst/>
          </a:prstGeom>
          <a:solidFill>
            <a:srgbClr val="1F4E79"/>
          </a:solidFill>
          <a:ln w="12700">
            <a:solidFill>
              <a:srgbClr val="1F4E79"/>
            </a:solidFill>
            <a:prstDash val="solid"/>
          </a:ln>
        </p:spPr>
      </p:sp>
      <p:sp>
        <p:nvSpPr>
          <p:cNvPr id="30" name="Text 28"/>
          <p:cNvSpPr/>
          <p:nvPr/>
        </p:nvSpPr>
        <p:spPr>
          <a:xfrm>
            <a:off x="320040" y="3703320"/>
            <a:ext cx="502920" cy="11430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05</a:t>
            </a:r>
            <a:endParaRPr lang="en-US" sz="1600" dirty="0"/>
          </a:p>
        </p:txBody>
      </p:sp>
      <p:sp>
        <p:nvSpPr>
          <p:cNvPr id="31" name="Shape 29"/>
          <p:cNvSpPr/>
          <p:nvPr/>
        </p:nvSpPr>
        <p:spPr>
          <a:xfrm>
            <a:off x="3611880" y="3776472"/>
            <a:ext cx="804672" cy="320040"/>
          </a:xfrm>
          <a:prstGeom prst="rect">
            <a:avLst/>
          </a:prstGeom>
          <a:solidFill>
            <a:srgbClr val="E8A020"/>
          </a:solidFill>
          <a:ln w="12700">
            <a:solidFill>
              <a:srgbClr val="E8A020"/>
            </a:solidFill>
            <a:prstDash val="solid"/>
          </a:ln>
        </p:spPr>
      </p:sp>
      <p:sp>
        <p:nvSpPr>
          <p:cNvPr id="32" name="Text 30"/>
          <p:cNvSpPr/>
          <p:nvPr/>
        </p:nvSpPr>
        <p:spPr>
          <a:xfrm>
            <a:off x="3611880" y="3776472"/>
            <a:ext cx="804672" cy="32004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MEDIUM</a:t>
            </a:r>
            <a:endParaRPr lang="en-US" sz="900" dirty="0"/>
          </a:p>
        </p:txBody>
      </p:sp>
      <p:sp>
        <p:nvSpPr>
          <p:cNvPr id="33" name="Text 31"/>
          <p:cNvSpPr/>
          <p:nvPr/>
        </p:nvSpPr>
        <p:spPr>
          <a:xfrm>
            <a:off x="914400" y="3703320"/>
            <a:ext cx="2606040" cy="1143000"/>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Improve marketing for low-performing vendors to grow volume</a:t>
            </a:r>
            <a:endParaRPr lang="en-US" sz="1100" dirty="0"/>
          </a:p>
        </p:txBody>
      </p:sp>
      <p:sp>
        <p:nvSpPr>
          <p:cNvPr id="34" name="Shape 32"/>
          <p:cNvSpPr/>
          <p:nvPr/>
        </p:nvSpPr>
        <p:spPr>
          <a:xfrm>
            <a:off x="4846320" y="3703320"/>
            <a:ext cx="4206240" cy="1143000"/>
          </a:xfrm>
          <a:prstGeom prst="rect">
            <a:avLst/>
          </a:prstGeom>
          <a:solidFill>
            <a:srgbClr val="F4F8FC"/>
          </a:solidFill>
          <a:ln w="12700">
            <a:solidFill>
              <a:srgbClr val="BDD7EE"/>
            </a:solidFill>
            <a:prstDash val="solid"/>
          </a:ln>
        </p:spPr>
      </p:sp>
      <p:sp>
        <p:nvSpPr>
          <p:cNvPr id="35" name="Shape 33"/>
          <p:cNvSpPr/>
          <p:nvPr/>
        </p:nvSpPr>
        <p:spPr>
          <a:xfrm>
            <a:off x="4846320" y="3703320"/>
            <a:ext cx="502920" cy="1143000"/>
          </a:xfrm>
          <a:prstGeom prst="rect">
            <a:avLst/>
          </a:prstGeom>
          <a:solidFill>
            <a:srgbClr val="1F4E79"/>
          </a:solidFill>
          <a:ln w="12700">
            <a:solidFill>
              <a:srgbClr val="1F4E79"/>
            </a:solidFill>
            <a:prstDash val="solid"/>
          </a:ln>
        </p:spPr>
      </p:sp>
      <p:sp>
        <p:nvSpPr>
          <p:cNvPr id="36" name="Text 34"/>
          <p:cNvSpPr/>
          <p:nvPr/>
        </p:nvSpPr>
        <p:spPr>
          <a:xfrm>
            <a:off x="4846320" y="3703320"/>
            <a:ext cx="502920" cy="11430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06</a:t>
            </a:r>
            <a:endParaRPr lang="en-US" sz="1600" dirty="0"/>
          </a:p>
        </p:txBody>
      </p:sp>
      <p:sp>
        <p:nvSpPr>
          <p:cNvPr id="37" name="Shape 35"/>
          <p:cNvSpPr/>
          <p:nvPr/>
        </p:nvSpPr>
        <p:spPr>
          <a:xfrm>
            <a:off x="8138160" y="3776472"/>
            <a:ext cx="804672" cy="320040"/>
          </a:xfrm>
          <a:prstGeom prst="rect">
            <a:avLst/>
          </a:prstGeom>
          <a:solidFill>
            <a:srgbClr val="E8A020"/>
          </a:solidFill>
          <a:ln w="12700">
            <a:solidFill>
              <a:srgbClr val="E8A020"/>
            </a:solidFill>
            <a:prstDash val="solid"/>
          </a:ln>
        </p:spPr>
      </p:sp>
      <p:sp>
        <p:nvSpPr>
          <p:cNvPr id="38" name="Text 36"/>
          <p:cNvSpPr/>
          <p:nvPr/>
        </p:nvSpPr>
        <p:spPr>
          <a:xfrm>
            <a:off x="8138160" y="3776472"/>
            <a:ext cx="804672" cy="32004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MEDIUM</a:t>
            </a:r>
            <a:endParaRPr lang="en-US" sz="900" dirty="0"/>
          </a:p>
        </p:txBody>
      </p:sp>
      <p:sp>
        <p:nvSpPr>
          <p:cNvPr id="39" name="Text 37"/>
          <p:cNvSpPr/>
          <p:nvPr/>
        </p:nvSpPr>
        <p:spPr>
          <a:xfrm>
            <a:off x="5440680" y="3703320"/>
            <a:ext cx="2606040" cy="1143000"/>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Negotiate return policies with top vendors for inventory risk</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F4E79"/>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8A020"/>
          </a:solidFill>
          <a:ln w="12700">
            <a:solidFill>
              <a:srgbClr val="E8A020"/>
            </a:solidFill>
            <a:prstDash val="solid"/>
          </a:ln>
        </p:spPr>
      </p:sp>
      <p:sp>
        <p:nvSpPr>
          <p:cNvPr id="3" name="Text 1"/>
          <p:cNvSpPr/>
          <p:nvPr/>
        </p:nvSpPr>
        <p:spPr>
          <a:xfrm>
            <a:off x="365760" y="457200"/>
            <a:ext cx="8412480" cy="640080"/>
          </a:xfrm>
          <a:prstGeom prst="rect">
            <a:avLst/>
          </a:prstGeom>
          <a:noFill/>
          <a:ln/>
        </p:spPr>
        <p:txBody>
          <a:bodyPr wrap="square"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Conclusion</a:t>
            </a:r>
            <a:endParaRPr lang="en-US" sz="3600" dirty="0"/>
          </a:p>
        </p:txBody>
      </p:sp>
      <p:sp>
        <p:nvSpPr>
          <p:cNvPr id="4" name="Shape 2"/>
          <p:cNvSpPr/>
          <p:nvPr/>
        </p:nvSpPr>
        <p:spPr>
          <a:xfrm>
            <a:off x="365760" y="1280160"/>
            <a:ext cx="8412480" cy="502920"/>
          </a:xfrm>
          <a:prstGeom prst="rect">
            <a:avLst/>
          </a:prstGeom>
          <a:solidFill>
            <a:srgbClr val="2E75B6"/>
          </a:solidFill>
          <a:ln w="12700">
            <a:solidFill>
              <a:srgbClr val="2E75B6"/>
            </a:solidFill>
            <a:prstDash val="solid"/>
          </a:ln>
        </p:spPr>
      </p:sp>
      <p:sp>
        <p:nvSpPr>
          <p:cNvPr id="5" name="Shape 3"/>
          <p:cNvSpPr/>
          <p:nvPr/>
        </p:nvSpPr>
        <p:spPr>
          <a:xfrm>
            <a:off x="365760" y="1280160"/>
            <a:ext cx="73152" cy="502920"/>
          </a:xfrm>
          <a:prstGeom prst="rect">
            <a:avLst/>
          </a:prstGeom>
          <a:solidFill>
            <a:srgbClr val="E8A020"/>
          </a:solidFill>
          <a:ln w="12700">
            <a:solidFill>
              <a:srgbClr val="E8A020"/>
            </a:solidFill>
            <a:prstDash val="solid"/>
          </a:ln>
        </p:spPr>
      </p:sp>
      <p:sp>
        <p:nvSpPr>
          <p:cNvPr id="6" name="Text 4"/>
          <p:cNvSpPr/>
          <p:nvPr/>
        </p:nvSpPr>
        <p:spPr>
          <a:xfrm>
            <a:off x="502920" y="1280160"/>
            <a:ext cx="8138160" cy="50292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$448.8M in sales with 30.49% margin — strong overall performance</a:t>
            </a:r>
            <a:endParaRPr lang="en-US" sz="1300" dirty="0"/>
          </a:p>
        </p:txBody>
      </p:sp>
      <p:sp>
        <p:nvSpPr>
          <p:cNvPr id="7" name="Shape 5"/>
          <p:cNvSpPr/>
          <p:nvPr/>
        </p:nvSpPr>
        <p:spPr>
          <a:xfrm>
            <a:off x="365760" y="1874520"/>
            <a:ext cx="8412480" cy="502920"/>
          </a:xfrm>
          <a:prstGeom prst="rect">
            <a:avLst/>
          </a:prstGeom>
          <a:solidFill>
            <a:srgbClr val="2E75B6"/>
          </a:solidFill>
          <a:ln w="12700">
            <a:solidFill>
              <a:srgbClr val="2E75B6"/>
            </a:solidFill>
            <a:prstDash val="solid"/>
          </a:ln>
        </p:spPr>
      </p:sp>
      <p:sp>
        <p:nvSpPr>
          <p:cNvPr id="8" name="Shape 6"/>
          <p:cNvSpPr/>
          <p:nvPr/>
        </p:nvSpPr>
        <p:spPr>
          <a:xfrm>
            <a:off x="365760" y="1874520"/>
            <a:ext cx="73152" cy="502920"/>
          </a:xfrm>
          <a:prstGeom prst="rect">
            <a:avLst/>
          </a:prstGeom>
          <a:solidFill>
            <a:srgbClr val="E8A020"/>
          </a:solidFill>
          <a:ln w="12700">
            <a:solidFill>
              <a:srgbClr val="E8A020"/>
            </a:solidFill>
            <a:prstDash val="solid"/>
          </a:ln>
        </p:spPr>
      </p:sp>
      <p:sp>
        <p:nvSpPr>
          <p:cNvPr id="9" name="Text 7"/>
          <p:cNvSpPr/>
          <p:nvPr/>
        </p:nvSpPr>
        <p:spPr>
          <a:xfrm>
            <a:off x="502920" y="1874520"/>
            <a:ext cx="8138160" cy="50292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Vendor concentration risk: top 10 vendors = 64.72% of purchases</a:t>
            </a:r>
            <a:endParaRPr lang="en-US" sz="1300" dirty="0"/>
          </a:p>
        </p:txBody>
      </p:sp>
      <p:sp>
        <p:nvSpPr>
          <p:cNvPr id="10" name="Shape 8"/>
          <p:cNvSpPr/>
          <p:nvPr/>
        </p:nvSpPr>
        <p:spPr>
          <a:xfrm>
            <a:off x="365760" y="2468880"/>
            <a:ext cx="8412480" cy="502920"/>
          </a:xfrm>
          <a:prstGeom prst="rect">
            <a:avLst/>
          </a:prstGeom>
          <a:solidFill>
            <a:srgbClr val="2E75B6"/>
          </a:solidFill>
          <a:ln w="12700">
            <a:solidFill>
              <a:srgbClr val="2E75B6"/>
            </a:solidFill>
            <a:prstDash val="solid"/>
          </a:ln>
        </p:spPr>
      </p:sp>
      <p:sp>
        <p:nvSpPr>
          <p:cNvPr id="11" name="Shape 9"/>
          <p:cNvSpPr/>
          <p:nvPr/>
        </p:nvSpPr>
        <p:spPr>
          <a:xfrm>
            <a:off x="365760" y="2468880"/>
            <a:ext cx="73152" cy="502920"/>
          </a:xfrm>
          <a:prstGeom prst="rect">
            <a:avLst/>
          </a:prstGeom>
          <a:solidFill>
            <a:srgbClr val="E8A020"/>
          </a:solidFill>
          <a:ln w="12700">
            <a:solidFill>
              <a:srgbClr val="E8A020"/>
            </a:solidFill>
            <a:prstDash val="solid"/>
          </a:ln>
        </p:spPr>
      </p:sp>
      <p:sp>
        <p:nvSpPr>
          <p:cNvPr id="12" name="Text 10"/>
          <p:cNvSpPr/>
          <p:nvPr/>
        </p:nvSpPr>
        <p:spPr>
          <a:xfrm>
            <a:off x="502920" y="2468880"/>
            <a:ext cx="8138160" cy="50292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193 high-margin brands need promotions to unlock hidden revenue</a:t>
            </a:r>
            <a:endParaRPr lang="en-US" sz="1300" dirty="0"/>
          </a:p>
        </p:txBody>
      </p:sp>
      <p:sp>
        <p:nvSpPr>
          <p:cNvPr id="13" name="Shape 11"/>
          <p:cNvSpPr/>
          <p:nvPr/>
        </p:nvSpPr>
        <p:spPr>
          <a:xfrm>
            <a:off x="365760" y="3063240"/>
            <a:ext cx="8412480" cy="502920"/>
          </a:xfrm>
          <a:prstGeom prst="rect">
            <a:avLst/>
          </a:prstGeom>
          <a:solidFill>
            <a:srgbClr val="2E75B6"/>
          </a:solidFill>
          <a:ln w="12700">
            <a:solidFill>
              <a:srgbClr val="2E75B6"/>
            </a:solidFill>
            <a:prstDash val="solid"/>
          </a:ln>
        </p:spPr>
      </p:sp>
      <p:sp>
        <p:nvSpPr>
          <p:cNvPr id="14" name="Shape 12"/>
          <p:cNvSpPr/>
          <p:nvPr/>
        </p:nvSpPr>
        <p:spPr>
          <a:xfrm>
            <a:off x="365760" y="3063240"/>
            <a:ext cx="73152" cy="502920"/>
          </a:xfrm>
          <a:prstGeom prst="rect">
            <a:avLst/>
          </a:prstGeom>
          <a:solidFill>
            <a:srgbClr val="E8A020"/>
          </a:solidFill>
          <a:ln w="12700">
            <a:solidFill>
              <a:srgbClr val="E8A020"/>
            </a:solidFill>
            <a:prstDash val="solid"/>
          </a:ln>
        </p:spPr>
      </p:sp>
      <p:sp>
        <p:nvSpPr>
          <p:cNvPr id="15" name="Text 13"/>
          <p:cNvSpPr/>
          <p:nvPr/>
        </p:nvSpPr>
        <p:spPr>
          <a:xfrm>
            <a:off x="502920" y="3063240"/>
            <a:ext cx="8138160" cy="50292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$3.66M in unsold inventory needs immediate attention</a:t>
            </a:r>
            <a:endParaRPr lang="en-US" sz="1300" dirty="0"/>
          </a:p>
        </p:txBody>
      </p:sp>
      <p:sp>
        <p:nvSpPr>
          <p:cNvPr id="16" name="Shape 14"/>
          <p:cNvSpPr/>
          <p:nvPr/>
        </p:nvSpPr>
        <p:spPr>
          <a:xfrm>
            <a:off x="365760" y="3657600"/>
            <a:ext cx="8412480" cy="502920"/>
          </a:xfrm>
          <a:prstGeom prst="rect">
            <a:avLst/>
          </a:prstGeom>
          <a:solidFill>
            <a:srgbClr val="2E75B6"/>
          </a:solidFill>
          <a:ln w="12700">
            <a:solidFill>
              <a:srgbClr val="2E75B6"/>
            </a:solidFill>
            <a:prstDash val="solid"/>
          </a:ln>
        </p:spPr>
      </p:sp>
      <p:sp>
        <p:nvSpPr>
          <p:cNvPr id="17" name="Shape 15"/>
          <p:cNvSpPr/>
          <p:nvPr/>
        </p:nvSpPr>
        <p:spPr>
          <a:xfrm>
            <a:off x="365760" y="3657600"/>
            <a:ext cx="73152" cy="502920"/>
          </a:xfrm>
          <a:prstGeom prst="rect">
            <a:avLst/>
          </a:prstGeom>
          <a:solidFill>
            <a:srgbClr val="E8A020"/>
          </a:solidFill>
          <a:ln w="12700">
            <a:solidFill>
              <a:srgbClr val="E8A020"/>
            </a:solidFill>
            <a:prstDash val="solid"/>
          </a:ln>
        </p:spPr>
      </p:sp>
      <p:sp>
        <p:nvSpPr>
          <p:cNvPr id="18" name="Text 16"/>
          <p:cNvSpPr/>
          <p:nvPr/>
        </p:nvSpPr>
        <p:spPr>
          <a:xfrm>
            <a:off x="502920" y="3657600"/>
            <a:ext cx="8138160" cy="50292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Bulk purchasing reduces unit cost by 74% — reinforce this strategy</a:t>
            </a:r>
            <a:endParaRPr lang="en-US" sz="1300" dirty="0"/>
          </a:p>
        </p:txBody>
      </p:sp>
      <p:sp>
        <p:nvSpPr>
          <p:cNvPr id="19" name="Shape 17"/>
          <p:cNvSpPr/>
          <p:nvPr/>
        </p:nvSpPr>
        <p:spPr>
          <a:xfrm>
            <a:off x="365760" y="4251960"/>
            <a:ext cx="8412480" cy="502920"/>
          </a:xfrm>
          <a:prstGeom prst="rect">
            <a:avLst/>
          </a:prstGeom>
          <a:solidFill>
            <a:srgbClr val="2E75B6"/>
          </a:solidFill>
          <a:ln w="12700">
            <a:solidFill>
              <a:srgbClr val="2E75B6"/>
            </a:solidFill>
            <a:prstDash val="solid"/>
          </a:ln>
        </p:spPr>
      </p:sp>
      <p:sp>
        <p:nvSpPr>
          <p:cNvPr id="20" name="Shape 18"/>
          <p:cNvSpPr/>
          <p:nvPr/>
        </p:nvSpPr>
        <p:spPr>
          <a:xfrm>
            <a:off x="365760" y="4251960"/>
            <a:ext cx="73152" cy="502920"/>
          </a:xfrm>
          <a:prstGeom prst="rect">
            <a:avLst/>
          </a:prstGeom>
          <a:solidFill>
            <a:srgbClr val="E8A020"/>
          </a:solidFill>
          <a:ln w="12700">
            <a:solidFill>
              <a:srgbClr val="E8A020"/>
            </a:solidFill>
            <a:prstDash val="solid"/>
          </a:ln>
        </p:spPr>
      </p:sp>
      <p:sp>
        <p:nvSpPr>
          <p:cNvPr id="21" name="Text 19"/>
          <p:cNvSpPr/>
          <p:nvPr/>
        </p:nvSpPr>
        <p:spPr>
          <a:xfrm>
            <a:off x="502920" y="4251960"/>
            <a:ext cx="8138160" cy="50292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Statistical testing confirms significant profit margin differences</a:t>
            </a:r>
            <a:endParaRPr lang="en-US" sz="1300" dirty="0"/>
          </a:p>
        </p:txBody>
      </p:sp>
      <p:sp>
        <p:nvSpPr>
          <p:cNvPr id="22" name="Text 20"/>
          <p:cNvSpPr/>
          <p:nvPr/>
        </p:nvSpPr>
        <p:spPr>
          <a:xfrm>
            <a:off x="365760" y="4754880"/>
            <a:ext cx="8412480" cy="274320"/>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Wasif  |  Vendor Performance Analysis  |  May 2026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671</Words>
  <Application>Microsoft Office PowerPoint</Application>
  <PresentationFormat>On-screen Show (16:9)</PresentationFormat>
  <Paragraphs>157</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Vendor Performance Analysis</dc:title>
  <dc:subject>PptxGenJS Presentation</dc:subject>
  <dc:creator>Wasif</dc:creator>
  <cp:lastModifiedBy>01-399252-052</cp:lastModifiedBy>
  <cp:revision>1</cp:revision>
  <dcterms:created xsi:type="dcterms:W3CDTF">2026-05-25T09:28:21Z</dcterms:created>
  <dcterms:modified xsi:type="dcterms:W3CDTF">2026-05-25T09:32:23Z</dcterms:modified>
</cp:coreProperties>
</file>